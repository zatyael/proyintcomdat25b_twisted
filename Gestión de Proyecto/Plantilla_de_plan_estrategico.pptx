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
  </p:notesMasterIdLst>
  <p:sldIdLst>
    <p:sldId id="342" r:id="rId2"/>
    <p:sldId id="343"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rica Waite" initials="EW" lastIdx="2" clrIdx="0">
    <p:extLst>
      <p:ext uri="{19B8F6BF-5375-455C-9EA6-DF929625EA0E}">
        <p15:presenceInfo xmlns:p15="http://schemas.microsoft.com/office/powerpoint/2012/main" userId="c568693182780e7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BD6B5"/>
    <a:srgbClr val="9CA58C"/>
    <a:srgbClr val="EBD9B6"/>
    <a:srgbClr val="DCF8EB"/>
    <a:srgbClr val="0098C6"/>
    <a:srgbClr val="66BBCC"/>
    <a:srgbClr val="654105"/>
    <a:srgbClr val="7C5008"/>
    <a:srgbClr val="02B9F0"/>
    <a:srgbClr val="D5A60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28EC57-F7CB-4C2E-9035-E837AEBA8E3B}" v="2" dt="2024-05-28T22:34:17.5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704" autoAdjust="0"/>
    <p:restoredTop sz="86447"/>
  </p:normalViewPr>
  <p:slideViewPr>
    <p:cSldViewPr snapToGrid="0" snapToObjects="1">
      <p:cViewPr varScale="1">
        <p:scale>
          <a:sx n="69" d="100"/>
          <a:sy n="69" d="100"/>
        </p:scale>
        <p:origin x="630" y="60"/>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10" Type="http://schemas.microsoft.com/office/2015/10/relationships/revisionInfo" Target="revisionInfo.xml"/><Relationship Id="rId4" Type="http://schemas.openxmlformats.org/officeDocument/2006/relationships/notesMaster" Target="notesMasters/notesMaster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6AFEDE-F1BF-6A4A-80D9-CCB6DC4EFE3D}" type="datetimeFigureOut">
              <a:rPr lang="en-US" smtClean="0"/>
              <a:t>10/22/2025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711C10-233D-DA48-A5CB-9365BBABB6B4}" type="slidenum">
              <a:rPr lang="en-US" smtClean="0"/>
              <a:t>‹Nº›</a:t>
            </a:fld>
            <a:endParaRPr lang="en-US" dirty="0"/>
          </a:p>
        </p:txBody>
      </p:sp>
    </p:spTree>
    <p:extLst>
      <p:ext uri="{BB962C8B-B14F-4D97-AF65-F5344CB8AC3E}">
        <p14:creationId xmlns:p14="http://schemas.microsoft.com/office/powerpoint/2010/main" val="433076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381E756-E947-FD4A-8A23-D2C983A1A8BD}" type="datetimeFigureOut">
              <a:rPr lang="en-US" smtClean="0"/>
              <a:t>10/22/2025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330669D-EC37-AA42-8CD3-B0788BD38FC6}" type="slidenum">
              <a:rPr lang="en-US" smtClean="0"/>
              <a:t>‹Nº›</a:t>
            </a:fld>
            <a:endParaRPr lang="en-US" dirty="0"/>
          </a:p>
        </p:txBody>
      </p:sp>
    </p:spTree>
    <p:extLst>
      <p:ext uri="{BB962C8B-B14F-4D97-AF65-F5344CB8AC3E}">
        <p14:creationId xmlns:p14="http://schemas.microsoft.com/office/powerpoint/2010/main" val="14073458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381E756-E947-FD4A-8A23-D2C983A1A8BD}" type="datetimeFigureOut">
              <a:rPr lang="en-US" smtClean="0"/>
              <a:t>10/22/2025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330669D-EC37-AA42-8CD3-B0788BD38FC6}" type="slidenum">
              <a:rPr lang="en-US" smtClean="0"/>
              <a:t>‹Nº›</a:t>
            </a:fld>
            <a:endParaRPr lang="en-US" dirty="0"/>
          </a:p>
        </p:txBody>
      </p:sp>
    </p:spTree>
    <p:extLst>
      <p:ext uri="{BB962C8B-B14F-4D97-AF65-F5344CB8AC3E}">
        <p14:creationId xmlns:p14="http://schemas.microsoft.com/office/powerpoint/2010/main" val="2079415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81E756-E947-FD4A-8A23-D2C983A1A8BD}" type="datetimeFigureOut">
              <a:rPr lang="en-US" smtClean="0"/>
              <a:t>10/22/2025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330669D-EC37-AA42-8CD3-B0788BD38FC6}" type="slidenum">
              <a:rPr lang="en-US" smtClean="0"/>
              <a:t>‹Nº›</a:t>
            </a:fld>
            <a:endParaRPr lang="en-US" dirty="0"/>
          </a:p>
        </p:txBody>
      </p:sp>
    </p:spTree>
    <p:extLst>
      <p:ext uri="{BB962C8B-B14F-4D97-AF65-F5344CB8AC3E}">
        <p14:creationId xmlns:p14="http://schemas.microsoft.com/office/powerpoint/2010/main" val="5797732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381E756-E947-FD4A-8A23-D2C983A1A8BD}" type="datetimeFigureOut">
              <a:rPr lang="en-US" smtClean="0"/>
              <a:t>10/22/2025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330669D-EC37-AA42-8CD3-B0788BD38FC6}" type="slidenum">
              <a:rPr lang="en-US" smtClean="0"/>
              <a:t>‹Nº›</a:t>
            </a:fld>
            <a:endParaRPr lang="en-US" dirty="0"/>
          </a:p>
        </p:txBody>
      </p:sp>
    </p:spTree>
    <p:extLst>
      <p:ext uri="{BB962C8B-B14F-4D97-AF65-F5344CB8AC3E}">
        <p14:creationId xmlns:p14="http://schemas.microsoft.com/office/powerpoint/2010/main" val="1115370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381E756-E947-FD4A-8A23-D2C983A1A8BD}" type="datetimeFigureOut">
              <a:rPr lang="en-US" smtClean="0"/>
              <a:t>10/22/2025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2330669D-EC37-AA42-8CD3-B0788BD38FC6}" type="slidenum">
              <a:rPr lang="en-US" smtClean="0"/>
              <a:t>‹Nº›</a:t>
            </a:fld>
            <a:endParaRPr lang="en-US" dirty="0"/>
          </a:p>
        </p:txBody>
      </p:sp>
    </p:spTree>
    <p:extLst>
      <p:ext uri="{BB962C8B-B14F-4D97-AF65-F5344CB8AC3E}">
        <p14:creationId xmlns:p14="http://schemas.microsoft.com/office/powerpoint/2010/main" val="641709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381E756-E947-FD4A-8A23-D2C983A1A8BD}" type="datetimeFigureOut">
              <a:rPr lang="en-US" smtClean="0"/>
              <a:t>10/22/2025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2330669D-EC37-AA42-8CD3-B0788BD38FC6}" type="slidenum">
              <a:rPr lang="en-US" smtClean="0"/>
              <a:t>‹Nº›</a:t>
            </a:fld>
            <a:endParaRPr lang="en-US" dirty="0"/>
          </a:p>
        </p:txBody>
      </p:sp>
    </p:spTree>
    <p:extLst>
      <p:ext uri="{BB962C8B-B14F-4D97-AF65-F5344CB8AC3E}">
        <p14:creationId xmlns:p14="http://schemas.microsoft.com/office/powerpoint/2010/main" val="545901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81E756-E947-FD4A-8A23-D2C983A1A8BD}" type="datetimeFigureOut">
              <a:rPr lang="en-US" smtClean="0"/>
              <a:t>10/22/2025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2330669D-EC37-AA42-8CD3-B0788BD38FC6}" type="slidenum">
              <a:rPr lang="en-US" smtClean="0"/>
              <a:t>‹Nº›</a:t>
            </a:fld>
            <a:endParaRPr lang="en-US" dirty="0"/>
          </a:p>
        </p:txBody>
      </p:sp>
    </p:spTree>
    <p:extLst>
      <p:ext uri="{BB962C8B-B14F-4D97-AF65-F5344CB8AC3E}">
        <p14:creationId xmlns:p14="http://schemas.microsoft.com/office/powerpoint/2010/main" val="9130763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381E756-E947-FD4A-8A23-D2C983A1A8BD}" type="datetimeFigureOut">
              <a:rPr lang="en-US" smtClean="0"/>
              <a:t>10/22/2025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330669D-EC37-AA42-8CD3-B0788BD38FC6}" type="slidenum">
              <a:rPr lang="en-US" smtClean="0"/>
              <a:t>‹Nº›</a:t>
            </a:fld>
            <a:endParaRPr lang="en-US" dirty="0"/>
          </a:p>
        </p:txBody>
      </p:sp>
    </p:spTree>
    <p:extLst>
      <p:ext uri="{BB962C8B-B14F-4D97-AF65-F5344CB8AC3E}">
        <p14:creationId xmlns:p14="http://schemas.microsoft.com/office/powerpoint/2010/main" val="155972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381E756-E947-FD4A-8A23-D2C983A1A8BD}" type="datetimeFigureOut">
              <a:rPr lang="en-US" smtClean="0"/>
              <a:t>10/22/2025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330669D-EC37-AA42-8CD3-B0788BD38FC6}" type="slidenum">
              <a:rPr lang="en-US" smtClean="0"/>
              <a:t>‹Nº›</a:t>
            </a:fld>
            <a:endParaRPr lang="en-US" dirty="0"/>
          </a:p>
        </p:txBody>
      </p:sp>
    </p:spTree>
    <p:extLst>
      <p:ext uri="{BB962C8B-B14F-4D97-AF65-F5344CB8AC3E}">
        <p14:creationId xmlns:p14="http://schemas.microsoft.com/office/powerpoint/2010/main" val="14938084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381E756-E947-FD4A-8A23-D2C983A1A8BD}" type="datetimeFigureOut">
              <a:rPr lang="en-US" smtClean="0"/>
              <a:t>10/22/2025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330669D-EC37-AA42-8CD3-B0788BD38FC6}" type="slidenum">
              <a:rPr lang="en-US" smtClean="0"/>
              <a:t>‹Nº›</a:t>
            </a:fld>
            <a:endParaRPr lang="en-US" dirty="0"/>
          </a:p>
        </p:txBody>
      </p:sp>
    </p:spTree>
    <p:extLst>
      <p:ext uri="{BB962C8B-B14F-4D97-AF65-F5344CB8AC3E}">
        <p14:creationId xmlns:p14="http://schemas.microsoft.com/office/powerpoint/2010/main" val="2078398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381E756-E947-FD4A-8A23-D2C983A1A8BD}" type="datetimeFigureOut">
              <a:rPr lang="en-US" smtClean="0"/>
              <a:t>10/22/2025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330669D-EC37-AA42-8CD3-B0788BD38FC6}" type="slidenum">
              <a:rPr lang="en-US" smtClean="0"/>
              <a:t>‹Nº›</a:t>
            </a:fld>
            <a:endParaRPr lang="en-US" dirty="0"/>
          </a:p>
        </p:txBody>
      </p:sp>
    </p:spTree>
    <p:extLst>
      <p:ext uri="{BB962C8B-B14F-4D97-AF65-F5344CB8AC3E}">
        <p14:creationId xmlns:p14="http://schemas.microsoft.com/office/powerpoint/2010/main" val="1356738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81E756-E947-FD4A-8A23-D2C983A1A8BD}" type="datetimeFigureOut">
              <a:rPr lang="en-US" smtClean="0"/>
              <a:t>10/22/2025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30669D-EC37-AA42-8CD3-B0788BD38FC6}" type="slidenum">
              <a:rPr lang="en-US" smtClean="0"/>
              <a:t>‹Nº›</a:t>
            </a:fld>
            <a:endParaRPr lang="en-US" dirty="0"/>
          </a:p>
        </p:txBody>
      </p:sp>
    </p:spTree>
    <p:extLst>
      <p:ext uri="{BB962C8B-B14F-4D97-AF65-F5344CB8AC3E}">
        <p14:creationId xmlns:p14="http://schemas.microsoft.com/office/powerpoint/2010/main" val="1729608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B1FD5C8-2A15-2D02-CB4B-22430253B1E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750" t="10448" r="8853" b="22538"/>
          <a:stretch/>
        </p:blipFill>
        <p:spPr bwMode="auto">
          <a:xfrm>
            <a:off x="5464292" y="1061485"/>
            <a:ext cx="6576912" cy="3654485"/>
          </a:xfrm>
          <a:prstGeom prst="rect">
            <a:avLst/>
          </a:prstGeom>
          <a:ln>
            <a:noFill/>
          </a:ln>
          <a:extLst>
            <a:ext uri="{53640926-AAD7-44D8-BBD7-CCE9431645EC}">
              <a14:shadowObscured xmlns:a14="http://schemas.microsoft.com/office/drawing/2010/main"/>
            </a:ext>
          </a:extLst>
        </p:spPr>
      </p:pic>
      <p:sp>
        <p:nvSpPr>
          <p:cNvPr id="33" name="TextBox 32">
            <a:extLst>
              <a:ext uri="{FF2B5EF4-FFF2-40B4-BE49-F238E27FC236}">
                <a16:creationId xmlns:a16="http://schemas.microsoft.com/office/drawing/2014/main" id="{143A449B-AAB7-994A-92CE-8F48E2CA7DF6}"/>
              </a:ext>
            </a:extLst>
          </p:cNvPr>
          <p:cNvSpPr txBox="1"/>
          <p:nvPr/>
        </p:nvSpPr>
        <p:spPr>
          <a:xfrm>
            <a:off x="300447" y="317165"/>
            <a:ext cx="7384507" cy="461665"/>
          </a:xfrm>
          <a:prstGeom prst="rect">
            <a:avLst/>
          </a:prstGeom>
          <a:noFill/>
        </p:spPr>
        <p:txBody>
          <a:bodyPr wrap="square" rtlCol="0">
            <a:spAutoFit/>
          </a:bodyPr>
          <a:lstStyle/>
          <a:p>
            <a:pPr rtl="0"/>
            <a:r>
              <a:rPr lang="es-419" sz="2400" b="1" dirty="0">
                <a:solidFill>
                  <a:schemeClr val="tx1">
                    <a:lumMod val="65000"/>
                    <a:lumOff val="35000"/>
                  </a:schemeClr>
                </a:solidFill>
                <a:latin typeface="Century Gothic" panose="020B0502020202020204" pitchFamily="34" charset="0"/>
              </a:rPr>
              <a:t>plantilla básica del plan estratégico</a:t>
            </a:r>
          </a:p>
        </p:txBody>
      </p:sp>
      <p:graphicFrame>
        <p:nvGraphicFramePr>
          <p:cNvPr id="11" name="Table 10">
            <a:extLst>
              <a:ext uri="{FF2B5EF4-FFF2-40B4-BE49-F238E27FC236}">
                <a16:creationId xmlns:a16="http://schemas.microsoft.com/office/drawing/2014/main" id="{7A2610DA-5BB8-0728-BDAA-5736C7FDD5FA}"/>
              </a:ext>
            </a:extLst>
          </p:cNvPr>
          <p:cNvGraphicFramePr>
            <a:graphicFrameLocks noGrp="1"/>
          </p:cNvGraphicFramePr>
          <p:nvPr>
            <p:extLst>
              <p:ext uri="{D42A27DB-BD31-4B8C-83A1-F6EECF244321}">
                <p14:modId xmlns:p14="http://schemas.microsoft.com/office/powerpoint/2010/main" val="193412082"/>
              </p:ext>
            </p:extLst>
          </p:nvPr>
        </p:nvGraphicFramePr>
        <p:xfrm>
          <a:off x="349250" y="4715970"/>
          <a:ext cx="11595702" cy="1920240"/>
        </p:xfrm>
        <a:graphic>
          <a:graphicData uri="http://schemas.openxmlformats.org/drawingml/2006/table">
            <a:tbl>
              <a:tblPr firstRow="1" firstCol="1" bandRow="1"/>
              <a:tblGrid>
                <a:gridCol w="5797851">
                  <a:extLst>
                    <a:ext uri="{9D8B030D-6E8A-4147-A177-3AD203B41FA5}">
                      <a16:colId xmlns:a16="http://schemas.microsoft.com/office/drawing/2014/main" val="934146318"/>
                    </a:ext>
                  </a:extLst>
                </a:gridCol>
                <a:gridCol w="5797851">
                  <a:extLst>
                    <a:ext uri="{9D8B030D-6E8A-4147-A177-3AD203B41FA5}">
                      <a16:colId xmlns:a16="http://schemas.microsoft.com/office/drawing/2014/main" val="2040963755"/>
                    </a:ext>
                  </a:extLst>
                </a:gridCol>
              </a:tblGrid>
              <a:tr h="640080">
                <a:tc>
                  <a:txBody>
                    <a:bodyPr/>
                    <a:lstStyle/>
                    <a:p>
                      <a:pPr marL="0" marR="0" algn="r" rtl="0">
                        <a:lnSpc>
                          <a:spcPct val="107000"/>
                        </a:lnSpc>
                        <a:spcBef>
                          <a:spcPts val="0"/>
                        </a:spcBef>
                        <a:spcAft>
                          <a:spcPts val="0"/>
                        </a:spcAft>
                      </a:pPr>
                      <a:r>
                        <a:rPr lang="es-419" sz="1200" kern="0">
                          <a:solidFill>
                            <a:srgbClr val="000000"/>
                          </a:solidFill>
                          <a:effectLst/>
                          <a:highlight>
                            <a:srgbClr val="F2F2F2"/>
                          </a:highlight>
                          <a:latin typeface="Century Gothic" panose="020B0502020202020204" pitchFamily="34" charset="0"/>
                          <a:ea typeface="Calibri" panose="020F0502020204030204" pitchFamily="34" charset="0"/>
                          <a:cs typeface="Times New Roman" panose="02020603050405020304" pitchFamily="18" charset="0"/>
                        </a:rPr>
                        <a:t>NOMBRE DE LA EMPRESA</a:t>
                      </a: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rtl="0">
                        <a:lnSpc>
                          <a:spcPct val="107000"/>
                        </a:lnSpc>
                        <a:spcBef>
                          <a:spcPts val="0"/>
                        </a:spcBef>
                        <a:spcAft>
                          <a:spcPts val="0"/>
                        </a:spcAft>
                      </a:pPr>
                      <a:r>
                        <a:rPr lang="es-MX" sz="1200" kern="0" dirty="0">
                          <a:effectLst/>
                          <a:latin typeface="Century Gothic" panose="020B0502020202020204" pitchFamily="34" charset="0"/>
                          <a:ea typeface="Calibri" panose="020F0502020204030204" pitchFamily="34" charset="0"/>
                          <a:cs typeface="Times New Roman" panose="02020603050405020304" pitchFamily="18" charset="0"/>
                        </a:rPr>
                        <a:t>COMUNICACIÓN ESTRATÉGICA</a:t>
                      </a:r>
                      <a:endParaRPr lang="es-419" sz="1200" kern="0" dirty="0">
                        <a:effectLst/>
                        <a:latin typeface="Century Gothic" panose="020B050202020202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183561639"/>
                  </a:ext>
                </a:extLst>
              </a:tr>
              <a:tr h="640080">
                <a:tc>
                  <a:txBody>
                    <a:bodyPr/>
                    <a:lstStyle/>
                    <a:p>
                      <a:pPr marL="0" marR="0" algn="r" rtl="0">
                        <a:lnSpc>
                          <a:spcPct val="107000"/>
                        </a:lnSpc>
                        <a:spcBef>
                          <a:spcPts val="0"/>
                        </a:spcBef>
                        <a:spcAft>
                          <a:spcPts val="0"/>
                        </a:spcAft>
                      </a:pPr>
                      <a:r>
                        <a:rPr lang="es-419" sz="1200" kern="0">
                          <a:solidFill>
                            <a:srgbClr val="000000"/>
                          </a:solidFill>
                          <a:effectLst/>
                          <a:highlight>
                            <a:srgbClr val="F2F2F2"/>
                          </a:highlight>
                          <a:latin typeface="Century Gothic" panose="020B0502020202020204" pitchFamily="34" charset="0"/>
                          <a:ea typeface="Calibri" panose="020F0502020204030204" pitchFamily="34" charset="0"/>
                          <a:cs typeface="Times New Roman" panose="02020603050405020304" pitchFamily="18" charset="0"/>
                        </a:rPr>
                        <a:t>PLAN ESTRATÉGICO CREADO POR</a:t>
                      </a: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rtl="0">
                        <a:lnSpc>
                          <a:spcPct val="107000"/>
                        </a:lnSpc>
                        <a:spcBef>
                          <a:spcPts val="0"/>
                        </a:spcBef>
                        <a:spcAft>
                          <a:spcPts val="0"/>
                        </a:spcAft>
                      </a:pPr>
                      <a:r>
                        <a:rPr lang="es-419" sz="1200" kern="0" dirty="0">
                          <a:effectLst/>
                          <a:latin typeface="Century Gothic" panose="020B0502020202020204" pitchFamily="34" charset="0"/>
                          <a:ea typeface="Calibri" panose="020F0502020204030204" pitchFamily="34" charset="0"/>
                          <a:cs typeface="Times New Roman" panose="02020603050405020304" pitchFamily="18" charset="0"/>
                        </a:rPr>
                        <a:t>Jonathan </a:t>
                      </a:r>
                      <a:r>
                        <a:rPr lang="es-419" sz="1200" kern="0" dirty="0" err="1">
                          <a:effectLst/>
                          <a:latin typeface="Century Gothic" panose="020B0502020202020204" pitchFamily="34" charset="0"/>
                          <a:ea typeface="Calibri" panose="020F0502020204030204" pitchFamily="34" charset="0"/>
                          <a:cs typeface="Times New Roman" panose="02020603050405020304" pitchFamily="18" charset="0"/>
                        </a:rPr>
                        <a:t>Suriel</a:t>
                      </a:r>
                      <a:r>
                        <a:rPr lang="es-419" sz="1200" kern="0" dirty="0">
                          <a:effectLst/>
                          <a:latin typeface="Century Gothic" panose="020B0502020202020204" pitchFamily="34" charset="0"/>
                          <a:ea typeface="Calibri" panose="020F0502020204030204" pitchFamily="34" charset="0"/>
                          <a:cs typeface="Times New Roman" panose="02020603050405020304" pitchFamily="18" charset="0"/>
                        </a:rPr>
                        <a:t> Ruiz </a:t>
                      </a:r>
                      <a:r>
                        <a:rPr lang="es-419" sz="1200" kern="0" dirty="0" err="1">
                          <a:effectLst/>
                          <a:latin typeface="Century Gothic" panose="020B0502020202020204" pitchFamily="34" charset="0"/>
                          <a:ea typeface="Calibri" panose="020F0502020204030204" pitchFamily="34" charset="0"/>
                          <a:cs typeface="Times New Roman" panose="02020603050405020304" pitchFamily="18" charset="0"/>
                        </a:rPr>
                        <a:t>Rodriguez</a:t>
                      </a:r>
                      <a:r>
                        <a:rPr lang="es-419" sz="1200" kern="0" dirty="0">
                          <a:effectLst/>
                          <a:latin typeface="Century Gothic" panose="020B0502020202020204" pitchFamily="34" charset="0"/>
                          <a:ea typeface="Calibri" panose="020F0502020204030204" pitchFamily="34" charset="0"/>
                          <a:cs typeface="Times New Roman" panose="02020603050405020304" pitchFamily="18" charset="0"/>
                        </a:rPr>
                        <a:t> &amp; Janeth </a:t>
                      </a:r>
                      <a:r>
                        <a:rPr lang="es-419" sz="1200" kern="0" dirty="0" err="1">
                          <a:effectLst/>
                          <a:latin typeface="Century Gothic" panose="020B0502020202020204" pitchFamily="34" charset="0"/>
                          <a:ea typeface="Calibri" panose="020F0502020204030204" pitchFamily="34" charset="0"/>
                          <a:cs typeface="Times New Roman" panose="02020603050405020304" pitchFamily="18" charset="0"/>
                        </a:rPr>
                        <a:t>Nataly</a:t>
                      </a:r>
                      <a:r>
                        <a:rPr lang="es-419" sz="1200" kern="0" dirty="0">
                          <a:effectLst/>
                          <a:latin typeface="Century Gothic" panose="020B0502020202020204" pitchFamily="34" charset="0"/>
                          <a:ea typeface="Calibri" panose="020F0502020204030204" pitchFamily="34" charset="0"/>
                          <a:cs typeface="Times New Roman" panose="02020603050405020304" pitchFamily="18" charset="0"/>
                        </a:rPr>
                        <a:t> Leonel Serrano</a:t>
                      </a: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54660362"/>
                  </a:ext>
                </a:extLst>
              </a:tr>
              <a:tr h="640080">
                <a:tc>
                  <a:txBody>
                    <a:bodyPr/>
                    <a:lstStyle/>
                    <a:p>
                      <a:pPr marL="0" marR="0" algn="r" rtl="0">
                        <a:lnSpc>
                          <a:spcPct val="107000"/>
                        </a:lnSpc>
                        <a:spcBef>
                          <a:spcPts val="0"/>
                        </a:spcBef>
                        <a:spcAft>
                          <a:spcPts val="0"/>
                        </a:spcAft>
                      </a:pPr>
                      <a:r>
                        <a:rPr lang="es-419" sz="1200" kern="0">
                          <a:solidFill>
                            <a:srgbClr val="000000"/>
                          </a:solidFill>
                          <a:effectLst/>
                          <a:highlight>
                            <a:srgbClr val="F2F2F2"/>
                          </a:highlight>
                          <a:latin typeface="Century Gothic" panose="020B0502020202020204" pitchFamily="34" charset="0"/>
                          <a:ea typeface="Calibri" panose="020F0502020204030204" pitchFamily="34" charset="0"/>
                          <a:cs typeface="Times New Roman" panose="02020603050405020304" pitchFamily="18" charset="0"/>
                        </a:rPr>
                        <a:t>FECHA</a:t>
                      </a: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rtl="0">
                        <a:lnSpc>
                          <a:spcPct val="107000"/>
                        </a:lnSpc>
                        <a:spcBef>
                          <a:spcPts val="0"/>
                        </a:spcBef>
                        <a:spcAft>
                          <a:spcPts val="0"/>
                        </a:spcAft>
                      </a:pPr>
                      <a:r>
                        <a:rPr lang="es-419" sz="1200" kern="0" dirty="0">
                          <a:effectLst/>
                          <a:latin typeface="Century Gothic" panose="020B0502020202020204" pitchFamily="34" charset="0"/>
                          <a:ea typeface="Calibri" panose="020F0502020204030204" pitchFamily="34" charset="0"/>
                          <a:cs typeface="Times New Roman" panose="02020603050405020304" pitchFamily="18" charset="0"/>
                        </a:rPr>
                        <a:t>21/10/2025</a:t>
                      </a: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872959510"/>
                  </a:ext>
                </a:extLst>
              </a:tr>
            </a:tbl>
          </a:graphicData>
        </a:graphic>
      </p:graphicFrame>
      <p:pic>
        <p:nvPicPr>
          <p:cNvPr id="7" name="Imagen 6" descr="Logotipo, nombre de la empresa&#10;&#10;El contenido generado por IA puede ser incorrecto.">
            <a:extLst>
              <a:ext uri="{FF2B5EF4-FFF2-40B4-BE49-F238E27FC236}">
                <a16:creationId xmlns:a16="http://schemas.microsoft.com/office/drawing/2014/main" id="{7282118E-90A1-7EA1-64FC-105C94AC9A2B}"/>
              </a:ext>
            </a:extLst>
          </p:cNvPr>
          <p:cNvPicPr>
            <a:picLocks noChangeAspect="1"/>
          </p:cNvPicPr>
          <p:nvPr/>
        </p:nvPicPr>
        <p:blipFill>
          <a:blip r:embed="rId3"/>
          <a:srcRect l="14156" t="28094" r="15444" b="28307"/>
          <a:stretch>
            <a:fillRect/>
          </a:stretch>
        </p:blipFill>
        <p:spPr>
          <a:xfrm>
            <a:off x="3608253" y="1318259"/>
            <a:ext cx="4076701" cy="2524776"/>
          </a:xfrm>
          <a:prstGeom prst="rect">
            <a:avLst/>
          </a:prstGeom>
        </p:spPr>
      </p:pic>
    </p:spTree>
    <p:extLst>
      <p:ext uri="{BB962C8B-B14F-4D97-AF65-F5344CB8AC3E}">
        <p14:creationId xmlns:p14="http://schemas.microsoft.com/office/powerpoint/2010/main" val="15085882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0E2C020-EF02-EE35-D9E3-8884FFCB4A29}"/>
              </a:ext>
            </a:extLst>
          </p:cNvPr>
          <p:cNvGraphicFramePr>
            <a:graphicFrameLocks noGrp="1"/>
          </p:cNvGraphicFramePr>
          <p:nvPr>
            <p:extLst>
              <p:ext uri="{D42A27DB-BD31-4B8C-83A1-F6EECF244321}">
                <p14:modId xmlns:p14="http://schemas.microsoft.com/office/powerpoint/2010/main" val="1545937506"/>
              </p:ext>
            </p:extLst>
          </p:nvPr>
        </p:nvGraphicFramePr>
        <p:xfrm>
          <a:off x="-66675" y="0"/>
          <a:ext cx="12258675" cy="6950699"/>
        </p:xfrm>
        <a:graphic>
          <a:graphicData uri="http://schemas.openxmlformats.org/drawingml/2006/table">
            <a:tbl>
              <a:tblPr firstRow="1" firstCol="1" bandRow="1"/>
              <a:tblGrid>
                <a:gridCol w="3277517">
                  <a:extLst>
                    <a:ext uri="{9D8B030D-6E8A-4147-A177-3AD203B41FA5}">
                      <a16:colId xmlns:a16="http://schemas.microsoft.com/office/drawing/2014/main" val="2823865273"/>
                    </a:ext>
                  </a:extLst>
                </a:gridCol>
                <a:gridCol w="8981158">
                  <a:extLst>
                    <a:ext uri="{9D8B030D-6E8A-4147-A177-3AD203B41FA5}">
                      <a16:colId xmlns:a16="http://schemas.microsoft.com/office/drawing/2014/main" val="2394681167"/>
                    </a:ext>
                  </a:extLst>
                </a:gridCol>
              </a:tblGrid>
              <a:tr h="775799">
                <a:tc>
                  <a:txBody>
                    <a:bodyPr/>
                    <a:lstStyle/>
                    <a:p>
                      <a:pPr marL="0" marR="0" rtl="0">
                        <a:lnSpc>
                          <a:spcPct val="107000"/>
                        </a:lnSpc>
                        <a:spcBef>
                          <a:spcPts val="0"/>
                        </a:spcBef>
                        <a:spcAft>
                          <a:spcPts val="0"/>
                        </a:spcAft>
                      </a:pPr>
                      <a:r>
                        <a:rPr lang="es-419" sz="1400" kern="0">
                          <a:solidFill>
                            <a:srgbClr val="595959"/>
                          </a:solidFill>
                          <a:effectLst/>
                          <a:highlight>
                            <a:srgbClr val="DEEAF6"/>
                          </a:highlight>
                          <a:latin typeface="Century Gothic" panose="020B0502020202020204" pitchFamily="34" charset="0"/>
                          <a:ea typeface="Times New Roman" panose="02020603050405020304" pitchFamily="18" charset="0"/>
                          <a:cs typeface="Calibri" panose="020F0502020204030204" pitchFamily="34" charset="0"/>
                        </a:rPr>
                        <a:t>RESUMEN EJECUTIVO</a:t>
                      </a: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EEAF6"/>
                    </a:solidFill>
                  </a:tcPr>
                </a:tc>
                <a:tc>
                  <a:txBody>
                    <a:bodyPr/>
                    <a:lstStyle/>
                    <a:p>
                      <a:pPr marL="0" marR="0" rtl="0">
                        <a:lnSpc>
                          <a:spcPct val="107000"/>
                        </a:lnSpc>
                        <a:spcBef>
                          <a:spcPts val="0"/>
                        </a:spcBef>
                        <a:spcAft>
                          <a:spcPts val="0"/>
                        </a:spcAft>
                      </a:pPr>
                      <a:r>
                        <a:rPr lang="es-MX" sz="1000" kern="100" dirty="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El proyecto busca mejorar la comunicación sobre el proceso de baja de materias para los estudiantes de primer semestre de Ingeniería en Computación en el C.U. Zumpango. El objetivo es eliminar la confusión actual a través de una campaña informativa clara y oportuna. Se planea desarrollar un sistema de información digital , implementar recordatorios automáticos por correo y usar materiales visuales como carteles, infografías y videos. El éxito se medirá por la reducción de estudiantes que desconocen el proceso y el aumento en la consulta de los materiales.</a:t>
                      </a:r>
                      <a:endParaRPr lang="es-419" sz="1000" kern="100" dirty="0">
                        <a:solidFill>
                          <a:srgbClr val="000000"/>
                        </a:solidFill>
                        <a:effectLst/>
                        <a:highlight>
                          <a:srgbClr val="F2F2F2"/>
                        </a:highlight>
                        <a:latin typeface="Century Gothic" panose="020B050202020202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505134833"/>
                  </a:ext>
                </a:extLst>
              </a:tr>
              <a:tr h="651185">
                <a:tc>
                  <a:txBody>
                    <a:bodyPr/>
                    <a:lstStyle/>
                    <a:p>
                      <a:pPr marL="0" marR="0" rtl="0">
                        <a:lnSpc>
                          <a:spcPct val="107000"/>
                        </a:lnSpc>
                        <a:spcBef>
                          <a:spcPts val="0"/>
                        </a:spcBef>
                        <a:spcAft>
                          <a:spcPts val="0"/>
                        </a:spcAft>
                      </a:pPr>
                      <a:r>
                        <a:rPr lang="es-419" sz="1400" kern="0">
                          <a:solidFill>
                            <a:srgbClr val="595959"/>
                          </a:solidFill>
                          <a:effectLst/>
                          <a:highlight>
                            <a:srgbClr val="BDD6EE"/>
                          </a:highlight>
                          <a:latin typeface="Century Gothic" panose="020B0502020202020204" pitchFamily="34" charset="0"/>
                          <a:ea typeface="Times New Roman" panose="02020603050405020304" pitchFamily="18" charset="0"/>
                          <a:cs typeface="Calibri" panose="020F0502020204030204" pitchFamily="34" charset="0"/>
                        </a:rPr>
                        <a:t>DECLARACIÓN DE LA VISIÓN</a:t>
                      </a: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BDD6EE"/>
                    </a:solidFill>
                  </a:tcPr>
                </a:tc>
                <a:tc>
                  <a:txBody>
                    <a:bodyPr/>
                    <a:lstStyle/>
                    <a:p>
                      <a:pPr marL="0" marR="0" rtl="0">
                        <a:lnSpc>
                          <a:spcPct val="107000"/>
                        </a:lnSpc>
                        <a:spcBef>
                          <a:spcPts val="0"/>
                        </a:spcBef>
                        <a:spcAft>
                          <a:spcPts val="0"/>
                        </a:spcAft>
                      </a:pPr>
                      <a:r>
                        <a:rPr lang="es-MX" sz="1000" kern="100" dirty="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Ser una institución que brinde a sus estudiantes herramientas informativas claras y accesibles, promoviendo una comunicación eficiente que apoye el desempeño académico y la toma de decisiones informadas.</a:t>
                      </a:r>
                      <a:endParaRPr lang="es-419" sz="1000" kern="100" dirty="0">
                        <a:solidFill>
                          <a:srgbClr val="000000"/>
                        </a:solidFill>
                        <a:effectLst/>
                        <a:highlight>
                          <a:srgbClr val="D9D9D9"/>
                        </a:highlight>
                        <a:latin typeface="Century Gothic" panose="020B050202020202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extLst>
                  <a:ext uri="{0D108BD9-81ED-4DB2-BD59-A6C34878D82A}">
                    <a16:rowId xmlns:a16="http://schemas.microsoft.com/office/drawing/2014/main" val="1724732670"/>
                  </a:ext>
                </a:extLst>
              </a:tr>
              <a:tr h="651185">
                <a:tc>
                  <a:txBody>
                    <a:bodyPr/>
                    <a:lstStyle/>
                    <a:p>
                      <a:pPr marL="0" marR="0" rtl="0">
                        <a:lnSpc>
                          <a:spcPct val="107000"/>
                        </a:lnSpc>
                        <a:spcBef>
                          <a:spcPts val="0"/>
                        </a:spcBef>
                        <a:spcAft>
                          <a:spcPts val="0"/>
                        </a:spcAft>
                      </a:pPr>
                      <a:r>
                        <a:rPr lang="es-419" sz="1400" kern="0">
                          <a:solidFill>
                            <a:srgbClr val="595959"/>
                          </a:solidFill>
                          <a:effectLst/>
                          <a:highlight>
                            <a:srgbClr val="DEEAF6"/>
                          </a:highlight>
                          <a:latin typeface="Century Gothic" panose="020B0502020202020204" pitchFamily="34" charset="0"/>
                          <a:ea typeface="Times New Roman" panose="02020603050405020304" pitchFamily="18" charset="0"/>
                          <a:cs typeface="Calibri" panose="020F0502020204030204" pitchFamily="34" charset="0"/>
                        </a:rPr>
                        <a:t>DECLARACIÓN DE LA MISIÓN</a:t>
                      </a: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EEAF6"/>
                    </a:solidFill>
                  </a:tcPr>
                </a:tc>
                <a:tc>
                  <a:txBody>
                    <a:bodyPr/>
                    <a:lstStyle/>
                    <a:p>
                      <a:pPr marL="0" marR="0" rtl="0">
                        <a:lnSpc>
                          <a:spcPct val="107000"/>
                        </a:lnSpc>
                        <a:spcBef>
                          <a:spcPts val="0"/>
                        </a:spcBef>
                        <a:spcAft>
                          <a:spcPts val="0"/>
                        </a:spcAft>
                      </a:pPr>
                      <a:r>
                        <a:rPr lang="es-MX" sz="1000" kern="100" dirty="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Diseñar e implementar estrategias de comunicación efectivas y tecnológicamente accesibles que garanticen que los estudiantes conozcan y comprendan los procesos administrativos, fortaleciendo la transparencia y la orientación institucional.</a:t>
                      </a:r>
                      <a:endParaRPr lang="es-419" sz="1000" kern="100" dirty="0">
                        <a:solidFill>
                          <a:srgbClr val="000000"/>
                        </a:solidFill>
                        <a:effectLst/>
                        <a:highlight>
                          <a:srgbClr val="F2F2F2"/>
                        </a:highlight>
                        <a:latin typeface="Century Gothic" panose="020B050202020202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4066895458"/>
                  </a:ext>
                </a:extLst>
              </a:tr>
              <a:tr h="1406208">
                <a:tc>
                  <a:txBody>
                    <a:bodyPr/>
                    <a:lstStyle/>
                    <a:p>
                      <a:pPr marL="0" marR="0" rtl="0">
                        <a:lnSpc>
                          <a:spcPct val="107000"/>
                        </a:lnSpc>
                        <a:spcBef>
                          <a:spcPts val="0"/>
                        </a:spcBef>
                        <a:spcAft>
                          <a:spcPts val="0"/>
                        </a:spcAft>
                      </a:pPr>
                      <a:r>
                        <a:rPr lang="es-419" sz="1400" kern="0">
                          <a:solidFill>
                            <a:srgbClr val="595959"/>
                          </a:solidFill>
                          <a:effectLst/>
                          <a:highlight>
                            <a:srgbClr val="BDD6EE"/>
                          </a:highlight>
                          <a:latin typeface="Century Gothic" panose="020B0502020202020204" pitchFamily="34" charset="0"/>
                          <a:ea typeface="Times New Roman" panose="02020603050405020304" pitchFamily="18" charset="0"/>
                          <a:cs typeface="Calibri" panose="020F0502020204030204" pitchFamily="34" charset="0"/>
                        </a:rPr>
                        <a:t>ANÁLISIS FODA</a:t>
                      </a: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BDD6EE"/>
                    </a:solidFill>
                  </a:tcPr>
                </a:tc>
                <a:tc>
                  <a:txBody>
                    <a:bodyPr/>
                    <a:lstStyle/>
                    <a:p>
                      <a:pPr marL="342900" marR="0" lvl="0" indent="-342900" rtl="0">
                        <a:lnSpc>
                          <a:spcPct val="107000"/>
                        </a:lnSpc>
                        <a:spcBef>
                          <a:spcPts val="0"/>
                        </a:spcBef>
                        <a:spcAft>
                          <a:spcPts val="0"/>
                        </a:spcAft>
                        <a:buFont typeface="Symbol" panose="05050102010706020507" pitchFamily="18" charset="2"/>
                        <a:buChar char=""/>
                      </a:pPr>
                      <a:r>
                        <a:rPr lang="es-MX" sz="1000" kern="100" dirty="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Fortalezas (Factores Internos): El proyecto atiende un problema real y validado (desconocimiento). Se planea usar un sistema digital, correo y material visual. Se definieron indicadores claros de éxito.</a:t>
                      </a:r>
                    </a:p>
                    <a:p>
                      <a:pPr marL="342900" marR="0" lvl="0" indent="-342900" rtl="0">
                        <a:lnSpc>
                          <a:spcPct val="107000"/>
                        </a:lnSpc>
                        <a:spcBef>
                          <a:spcPts val="0"/>
                        </a:spcBef>
                        <a:spcAft>
                          <a:spcPts val="0"/>
                        </a:spcAft>
                        <a:buFont typeface="Symbol" panose="05050102010706020507" pitchFamily="18" charset="2"/>
                        <a:buChar char=""/>
                      </a:pPr>
                      <a:r>
                        <a:rPr lang="es-MX" sz="1000" kern="100" dirty="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Debilidades (Factores Internos): Existe el riesgo de que los avisos sean ignorados debido a la gran cantidad de información que reciben los estudiantes. Algunos estudiantes pueden optar por no consultar la información proactivamente.</a:t>
                      </a:r>
                    </a:p>
                    <a:p>
                      <a:pPr marL="342900" marR="0" lvl="0" indent="-342900" rtl="0">
                        <a:lnSpc>
                          <a:spcPct val="107000"/>
                        </a:lnSpc>
                        <a:spcBef>
                          <a:spcPts val="0"/>
                        </a:spcBef>
                        <a:spcAft>
                          <a:spcPts val="0"/>
                        </a:spcAft>
                        <a:buFont typeface="Symbol" panose="05050102010706020507" pitchFamily="18" charset="2"/>
                        <a:buChar char=""/>
                      </a:pPr>
                      <a:r>
                        <a:rPr lang="es-MX" sz="1000" kern="100" dirty="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Oportunidades (Factores Externos): La Visión y Misión del C.U. Zumpango apoyan la "comunicación eficiente". Los estudiantes de primer semestre suelen estar más receptivos a la orientación. El proyecto aprovecha la infraestructura existente del "correo institucional".</a:t>
                      </a:r>
                    </a:p>
                    <a:p>
                      <a:pPr marL="342900" marR="0" lvl="0" indent="-342900" rtl="0">
                        <a:lnSpc>
                          <a:spcPct val="107000"/>
                        </a:lnSpc>
                        <a:spcBef>
                          <a:spcPts val="0"/>
                        </a:spcBef>
                        <a:spcAft>
                          <a:spcPts val="0"/>
                        </a:spcAft>
                        <a:buFont typeface="Symbol" panose="05050102010706020507" pitchFamily="18" charset="2"/>
                        <a:buChar char=""/>
                      </a:pPr>
                      <a:r>
                        <a:rPr lang="es-MX" sz="1000" kern="100" dirty="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Amenazas (Factores Externos): Las fechas o procedimientos de baja pueden cambiar por decisiones de la administración central (UAEM), dejando obsoletos los materiales.</a:t>
                      </a:r>
                      <a:endParaRPr lang="es-419" sz="1000" kern="100" dirty="0">
                        <a:solidFill>
                          <a:srgbClr val="000000"/>
                        </a:solidFill>
                        <a:effectLst/>
                        <a:highlight>
                          <a:srgbClr val="D9D9D9"/>
                        </a:highlight>
                        <a:latin typeface="Century Gothic" panose="020B050202020202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extLst>
                  <a:ext uri="{0D108BD9-81ED-4DB2-BD59-A6C34878D82A}">
                    <a16:rowId xmlns:a16="http://schemas.microsoft.com/office/drawing/2014/main" val="1444668703"/>
                  </a:ext>
                </a:extLst>
              </a:tr>
              <a:tr h="651185">
                <a:tc>
                  <a:txBody>
                    <a:bodyPr/>
                    <a:lstStyle/>
                    <a:p>
                      <a:pPr marL="0" marR="0" rtl="0">
                        <a:lnSpc>
                          <a:spcPct val="107000"/>
                        </a:lnSpc>
                        <a:spcBef>
                          <a:spcPts val="0"/>
                        </a:spcBef>
                        <a:spcAft>
                          <a:spcPts val="0"/>
                        </a:spcAft>
                      </a:pPr>
                      <a:r>
                        <a:rPr lang="es-419" sz="1400" kern="0" dirty="0">
                          <a:solidFill>
                            <a:srgbClr val="595959"/>
                          </a:solidFill>
                          <a:effectLst/>
                          <a:highlight>
                            <a:srgbClr val="DEEAF6"/>
                          </a:highlight>
                          <a:latin typeface="Century Gothic" panose="020B0502020202020204" pitchFamily="34" charset="0"/>
                          <a:ea typeface="Times New Roman" panose="02020603050405020304" pitchFamily="18" charset="0"/>
                          <a:cs typeface="Calibri" panose="020F0502020204030204" pitchFamily="34" charset="0"/>
                        </a:rPr>
                        <a:t>METAS DE NEGOCIOS</a:t>
                      </a: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EEAF6"/>
                    </a:solidFill>
                  </a:tcPr>
                </a:tc>
                <a:tc>
                  <a:txBody>
                    <a:bodyPr/>
                    <a:lstStyle/>
                    <a:p>
                      <a:pPr marL="342900" marR="0" lvl="0" indent="-342900" rtl="0">
                        <a:lnSpc>
                          <a:spcPct val="107000"/>
                        </a:lnSpc>
                        <a:spcBef>
                          <a:spcPts val="0"/>
                        </a:spcBef>
                        <a:spcAft>
                          <a:spcPts val="0"/>
                        </a:spcAft>
                        <a:buFont typeface="Symbol" panose="05050102010706020507" pitchFamily="18" charset="2"/>
                        <a:buChar char=""/>
                      </a:pPr>
                      <a:r>
                        <a:rPr lang="es-MX" sz="900" kern="100" dirty="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A corto plazo (Noviembre 2025): Implementar un sistema de recordatorios automáticos por correo. Crear y difundir 3 materiales visuales (carteles, videos, infografías).</a:t>
                      </a:r>
                    </a:p>
                    <a:p>
                      <a:pPr marL="342900" marR="0" lvl="0" indent="-342900" rtl="0">
                        <a:lnSpc>
                          <a:spcPct val="107000"/>
                        </a:lnSpc>
                        <a:spcBef>
                          <a:spcPts val="0"/>
                        </a:spcBef>
                        <a:spcAft>
                          <a:spcPts val="0"/>
                        </a:spcAft>
                        <a:buFont typeface="Symbol" panose="05050102010706020507" pitchFamily="18" charset="2"/>
                        <a:buChar char=""/>
                      </a:pPr>
                      <a:r>
                        <a:rPr lang="es-MX" sz="900" kern="100" dirty="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A largo plazo (Cierre de semestre / Diciembre 2025): Reducir el desconocimiento del proceso, logrando que un 80% de estudiantes estén informados. Extender el modelo de comunicación a 1 programa adicional</a:t>
                      </a:r>
                      <a:endParaRPr lang="es-419" sz="900" kern="100" dirty="0">
                        <a:solidFill>
                          <a:srgbClr val="000000"/>
                        </a:solidFill>
                        <a:effectLst/>
                        <a:highlight>
                          <a:srgbClr val="F2F2F2"/>
                        </a:highlight>
                        <a:latin typeface="Century Gothic" panose="020B050202020202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968894664"/>
                  </a:ext>
                </a:extLst>
              </a:tr>
              <a:tr h="651185">
                <a:tc>
                  <a:txBody>
                    <a:bodyPr/>
                    <a:lstStyle/>
                    <a:p>
                      <a:pPr marL="0" marR="0" rtl="0">
                        <a:lnSpc>
                          <a:spcPct val="107000"/>
                        </a:lnSpc>
                        <a:spcBef>
                          <a:spcPts val="0"/>
                        </a:spcBef>
                        <a:spcAft>
                          <a:spcPts val="0"/>
                        </a:spcAft>
                      </a:pPr>
                      <a:r>
                        <a:rPr lang="es-419" sz="1400" kern="0" dirty="0">
                          <a:solidFill>
                            <a:srgbClr val="595959"/>
                          </a:solidFill>
                          <a:effectLst/>
                          <a:highlight>
                            <a:srgbClr val="BDD6EE"/>
                          </a:highlight>
                          <a:latin typeface="Century Gothic" panose="020B0502020202020204" pitchFamily="34" charset="0"/>
                          <a:ea typeface="Times New Roman" panose="02020603050405020304" pitchFamily="18" charset="0"/>
                          <a:cs typeface="Calibri" panose="020F0502020204030204" pitchFamily="34" charset="0"/>
                        </a:rPr>
                        <a:t>PLAN DE MARKETING</a:t>
                      </a: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BDD6EE"/>
                    </a:solidFill>
                  </a:tcPr>
                </a:tc>
                <a:tc>
                  <a:txBody>
                    <a:bodyPr/>
                    <a:lstStyle/>
                    <a:p>
                      <a:pPr marL="0" marR="0" rtl="0">
                        <a:lnSpc>
                          <a:spcPct val="107000"/>
                        </a:lnSpc>
                        <a:spcBef>
                          <a:spcPts val="0"/>
                        </a:spcBef>
                        <a:spcAft>
                          <a:spcPts val="0"/>
                        </a:spcAft>
                      </a:pPr>
                      <a:r>
                        <a:rPr lang="es-MX" sz="1000" kern="100" dirty="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Canales: Correo institucional, redes sociales oficiales, carteles y posters con código QR.</a:t>
                      </a:r>
                      <a:br>
                        <a:rPr lang="es-MX" sz="1000" kern="100" dirty="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br>
                      <a:r>
                        <a:rPr lang="es-MX" sz="1000" kern="100" dirty="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Estrategias: Lanzamiento de campaña al inicio del semestre, recordatorios programados antes de fechas límite, y publicación de videos informativos breves.</a:t>
                      </a:r>
                      <a:br>
                        <a:rPr lang="es-MX" sz="1000" kern="100" dirty="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br>
                      <a:r>
                        <a:rPr lang="es-MX" sz="1000" kern="100" dirty="0" err="1">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KPIs</a:t>
                      </a:r>
                      <a:r>
                        <a:rPr lang="es-MX" sz="1000" kern="100" dirty="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 (Indicadores Clave): Porcentaje de correos abiertos, número de visitas a redes sociales, y porcentaje de alumnos que declaran conocer el proceso.</a:t>
                      </a:r>
                      <a:endParaRPr lang="es-419" sz="1000" kern="100" dirty="0">
                        <a:solidFill>
                          <a:srgbClr val="000000"/>
                        </a:solidFill>
                        <a:effectLst/>
                        <a:highlight>
                          <a:srgbClr val="D9D9D9"/>
                        </a:highlight>
                        <a:latin typeface="Century Gothic" panose="020B050202020202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extLst>
                  <a:ext uri="{0D108BD9-81ED-4DB2-BD59-A6C34878D82A}">
                    <a16:rowId xmlns:a16="http://schemas.microsoft.com/office/drawing/2014/main" val="2332827194"/>
                  </a:ext>
                </a:extLst>
              </a:tr>
              <a:tr h="556768">
                <a:tc>
                  <a:txBody>
                    <a:bodyPr/>
                    <a:lstStyle/>
                    <a:p>
                      <a:pPr marL="0" marR="0" rtl="0">
                        <a:lnSpc>
                          <a:spcPct val="107000"/>
                        </a:lnSpc>
                        <a:spcBef>
                          <a:spcPts val="0"/>
                        </a:spcBef>
                        <a:spcAft>
                          <a:spcPts val="0"/>
                        </a:spcAft>
                      </a:pPr>
                      <a:r>
                        <a:rPr lang="es-419" sz="1400" kern="0">
                          <a:solidFill>
                            <a:srgbClr val="595959"/>
                          </a:solidFill>
                          <a:effectLst/>
                          <a:highlight>
                            <a:srgbClr val="DEEAF6"/>
                          </a:highlight>
                          <a:latin typeface="Century Gothic" panose="020B0502020202020204" pitchFamily="34" charset="0"/>
                          <a:ea typeface="Times New Roman" panose="02020603050405020304" pitchFamily="18" charset="0"/>
                          <a:cs typeface="Calibri" panose="020F0502020204030204" pitchFamily="34" charset="0"/>
                        </a:rPr>
                        <a:t>PLAN OPERATIVO</a:t>
                      </a: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EEAF6"/>
                    </a:solidFill>
                  </a:tcPr>
                </a:tc>
                <a:tc>
                  <a:txBody>
                    <a:bodyPr/>
                    <a:lstStyle/>
                    <a:p>
                      <a:pPr marL="0" marR="0" rtl="0">
                        <a:lnSpc>
                          <a:spcPct val="107000"/>
                        </a:lnSpc>
                        <a:spcBef>
                          <a:spcPts val="0"/>
                        </a:spcBef>
                        <a:spcAft>
                          <a:spcPts val="0"/>
                        </a:spcAft>
                      </a:pPr>
                      <a:r>
                        <a:rPr lang="es-MX" sz="900" kern="100" dirty="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Incluye obtener la información oficial actualizada , redactar textos claros y producir los materiales visuales (infografías, video) , diseñar e imprimir carteles , configurar los recordatorios automáticos , colocar los materiales en puntos estratégicos , recolectar y analizar datos , y elaborar un reporte final y manual de operaciones.</a:t>
                      </a:r>
                      <a:endParaRPr lang="es-419" sz="900" kern="100" dirty="0">
                        <a:solidFill>
                          <a:srgbClr val="000000"/>
                        </a:solidFill>
                        <a:effectLst/>
                        <a:highlight>
                          <a:srgbClr val="F2F2F2"/>
                        </a:highlight>
                        <a:latin typeface="Century Gothic" panose="020B050202020202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743898507"/>
                  </a:ext>
                </a:extLst>
              </a:tr>
              <a:tr h="714380">
                <a:tc>
                  <a:txBody>
                    <a:bodyPr/>
                    <a:lstStyle/>
                    <a:p>
                      <a:pPr marL="0" marR="0" rtl="0">
                        <a:lnSpc>
                          <a:spcPct val="107000"/>
                        </a:lnSpc>
                        <a:spcBef>
                          <a:spcPts val="0"/>
                        </a:spcBef>
                        <a:spcAft>
                          <a:spcPts val="0"/>
                        </a:spcAft>
                      </a:pPr>
                      <a:r>
                        <a:rPr lang="es-419" sz="1400" kern="0">
                          <a:solidFill>
                            <a:srgbClr val="595959"/>
                          </a:solidFill>
                          <a:effectLst/>
                          <a:highlight>
                            <a:srgbClr val="BDD6EE"/>
                          </a:highlight>
                          <a:latin typeface="Century Gothic" panose="020B0502020202020204" pitchFamily="34" charset="0"/>
                          <a:ea typeface="Times New Roman" panose="02020603050405020304" pitchFamily="18" charset="0"/>
                          <a:cs typeface="Calibri" panose="020F0502020204030204" pitchFamily="34" charset="0"/>
                        </a:rPr>
                        <a:t>PROYECCIONES FINANCIERAS</a:t>
                      </a: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BDD6EE"/>
                    </a:solidFill>
                  </a:tcPr>
                </a:tc>
                <a:tc>
                  <a:txBody>
                    <a:bodyPr/>
                    <a:lstStyle/>
                    <a:p>
                      <a:r>
                        <a:rPr lang="es-MX" sz="900" b="1" dirty="0">
                          <a:highlight>
                            <a:srgbClr val="D9D9D9"/>
                          </a:highlight>
                          <a:latin typeface="Century Gothic" panose="020B0502020202020204" pitchFamily="34" charset="0"/>
                        </a:rPr>
                        <a:t>Rendimiento:</a:t>
                      </a:r>
                      <a:r>
                        <a:rPr lang="es-MX" sz="900" dirty="0">
                          <a:highlight>
                            <a:srgbClr val="D9D9D9"/>
                          </a:highlight>
                          <a:latin typeface="Century Gothic" panose="020B0502020202020204" pitchFamily="34" charset="0"/>
                        </a:rPr>
                        <a:t> Ahorro de Horas-Hombre (eficiencia administrativa), Reducción de Costos Académicos (eficiencia estudiantil) y Mejora de la Retención (valor a largo plazo).</a:t>
                      </a:r>
                    </a:p>
                    <a:p>
                      <a:r>
                        <a:rPr lang="es-MX" sz="900" b="1" dirty="0">
                          <a:highlight>
                            <a:srgbClr val="D9D9D9"/>
                          </a:highlight>
                          <a:latin typeface="Century Gothic" panose="020B0502020202020204" pitchFamily="34" charset="0"/>
                        </a:rPr>
                        <a:t>Recursos (Costo $0):</a:t>
                      </a:r>
                      <a:r>
                        <a:rPr lang="es-MX" sz="900" dirty="0">
                          <a:highlight>
                            <a:srgbClr val="D9D9D9"/>
                          </a:highlight>
                          <a:latin typeface="Century Gothic" panose="020B0502020202020204" pitchFamily="34" charset="0"/>
                        </a:rPr>
                        <a:t> El Equipo de Proyecto (estudiantes), el Software (open-</a:t>
                      </a:r>
                      <a:r>
                        <a:rPr lang="es-MX" sz="900" dirty="0" err="1">
                          <a:highlight>
                            <a:srgbClr val="D9D9D9"/>
                          </a:highlight>
                          <a:latin typeface="Century Gothic" panose="020B0502020202020204" pitchFamily="34" charset="0"/>
                        </a:rPr>
                        <a:t>source</a:t>
                      </a:r>
                      <a:r>
                        <a:rPr lang="es-MX" sz="900" dirty="0">
                          <a:highlight>
                            <a:srgbClr val="D9D9D9"/>
                          </a:highlight>
                          <a:latin typeface="Century Gothic" panose="020B0502020202020204" pitchFamily="34" charset="0"/>
                        </a:rPr>
                        <a:t> o educativo) y la Plataforma de Correo (institucional) no tienen costo monetario directo.</a:t>
                      </a:r>
                    </a:p>
                    <a:p>
                      <a:r>
                        <a:rPr lang="es-MX" sz="900" b="1" dirty="0">
                          <a:highlight>
                            <a:srgbClr val="D9D9D9"/>
                          </a:highlight>
                          <a:latin typeface="Century Gothic" panose="020B0502020202020204" pitchFamily="34" charset="0"/>
                        </a:rPr>
                        <a:t>Costos Directos:</a:t>
                      </a:r>
                      <a:r>
                        <a:rPr lang="es-MX" sz="900" dirty="0">
                          <a:highlight>
                            <a:srgbClr val="D9D9D9"/>
                          </a:highlight>
                          <a:latin typeface="Century Gothic" panose="020B0502020202020204" pitchFamily="34" charset="0"/>
                        </a:rPr>
                        <a:t> El único costo financiero es la "Impresión de Materiales Físicos", para el cual se necesita estimar una cotización.</a:t>
                      </a: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extLst>
                  <a:ext uri="{0D108BD9-81ED-4DB2-BD59-A6C34878D82A}">
                    <a16:rowId xmlns:a16="http://schemas.microsoft.com/office/drawing/2014/main" val="2354876515"/>
                  </a:ext>
                </a:extLst>
              </a:tr>
              <a:tr h="714380">
                <a:tc>
                  <a:txBody>
                    <a:bodyPr/>
                    <a:lstStyle/>
                    <a:p>
                      <a:pPr marL="0" marR="0" rtl="0">
                        <a:lnSpc>
                          <a:spcPct val="107000"/>
                        </a:lnSpc>
                        <a:spcBef>
                          <a:spcPts val="0"/>
                        </a:spcBef>
                        <a:spcAft>
                          <a:spcPts val="0"/>
                        </a:spcAft>
                      </a:pPr>
                      <a:r>
                        <a:rPr lang="es-419" sz="1400" kern="0">
                          <a:solidFill>
                            <a:srgbClr val="595959"/>
                          </a:solidFill>
                          <a:effectLst/>
                          <a:highlight>
                            <a:srgbClr val="DEEAF6"/>
                          </a:highlight>
                          <a:latin typeface="Century Gothic" panose="020B0502020202020204" pitchFamily="34" charset="0"/>
                          <a:ea typeface="Times New Roman" panose="02020603050405020304" pitchFamily="18" charset="0"/>
                          <a:cs typeface="Calibri" panose="020F0502020204030204" pitchFamily="34" charset="0"/>
                        </a:rPr>
                        <a:t>EQUIPO</a:t>
                      </a: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EEAF6"/>
                    </a:solidFill>
                  </a:tcPr>
                </a:tc>
                <a:tc>
                  <a:txBody>
                    <a:bodyPr/>
                    <a:lstStyle/>
                    <a:p>
                      <a:pPr rtl="0"/>
                      <a:r>
                        <a:rPr lang="es-MX" sz="900" b="1" dirty="0">
                          <a:effectLst/>
                          <a:highlight>
                            <a:srgbClr val="F2F2F2"/>
                          </a:highlight>
                          <a:latin typeface="Century Gothic" panose="020B0502020202020204" pitchFamily="34" charset="0"/>
                        </a:rPr>
                        <a:t>Brayan Cruz Hernández:</a:t>
                      </a:r>
                      <a:r>
                        <a:rPr lang="es-MX" sz="900" dirty="0">
                          <a:effectLst/>
                          <a:highlight>
                            <a:srgbClr val="F2F2F2"/>
                          </a:highlight>
                          <a:latin typeface="Century Gothic" panose="020B0502020202020204" pitchFamily="34" charset="0"/>
                        </a:rPr>
                        <a:t> Gerente del proyecto </a:t>
                      </a:r>
                    </a:p>
                    <a:p>
                      <a:pPr rtl="0"/>
                      <a:r>
                        <a:rPr lang="es-MX" sz="900" b="1" dirty="0">
                          <a:effectLst/>
                          <a:highlight>
                            <a:srgbClr val="F2F2F2"/>
                          </a:highlight>
                          <a:latin typeface="Century Gothic" panose="020B0502020202020204" pitchFamily="34" charset="0"/>
                        </a:rPr>
                        <a:t>Jorge Bautista López:</a:t>
                      </a:r>
                      <a:r>
                        <a:rPr lang="es-MX" sz="900" dirty="0">
                          <a:effectLst/>
                          <a:highlight>
                            <a:srgbClr val="F2F2F2"/>
                          </a:highlight>
                          <a:latin typeface="Century Gothic" panose="020B0502020202020204" pitchFamily="34" charset="0"/>
                        </a:rPr>
                        <a:t> Patrocinador (Coordinación de Ingeniería en Computación) </a:t>
                      </a:r>
                    </a:p>
                    <a:p>
                      <a:pPr rtl="0"/>
                      <a:r>
                        <a:rPr lang="es-MX" sz="900" b="1" dirty="0">
                          <a:effectLst/>
                          <a:highlight>
                            <a:srgbClr val="F2F2F2"/>
                          </a:highlight>
                          <a:latin typeface="Century Gothic" panose="020B0502020202020204" pitchFamily="34" charset="0"/>
                        </a:rPr>
                        <a:t>Janeth </a:t>
                      </a:r>
                      <a:r>
                        <a:rPr lang="es-MX" sz="900" b="1" dirty="0" err="1">
                          <a:effectLst/>
                          <a:highlight>
                            <a:srgbClr val="F2F2F2"/>
                          </a:highlight>
                          <a:latin typeface="Century Gothic" panose="020B0502020202020204" pitchFamily="34" charset="0"/>
                        </a:rPr>
                        <a:t>Nataly</a:t>
                      </a:r>
                      <a:r>
                        <a:rPr lang="es-MX" sz="900" b="1" dirty="0">
                          <a:effectLst/>
                          <a:highlight>
                            <a:srgbClr val="F2F2F2"/>
                          </a:highlight>
                          <a:latin typeface="Century Gothic" panose="020B0502020202020204" pitchFamily="34" charset="0"/>
                        </a:rPr>
                        <a:t> Leonel Serrano:</a:t>
                      </a:r>
                      <a:r>
                        <a:rPr lang="es-MX" sz="900" dirty="0">
                          <a:effectLst/>
                          <a:highlight>
                            <a:srgbClr val="F2F2F2"/>
                          </a:highlight>
                          <a:latin typeface="Century Gothic" panose="020B0502020202020204" pitchFamily="34" charset="0"/>
                        </a:rPr>
                        <a:t> Diseño Gráfico y Visual </a:t>
                      </a:r>
                    </a:p>
                    <a:p>
                      <a:pPr rtl="0"/>
                      <a:r>
                        <a:rPr lang="es-MX" sz="900" b="1" dirty="0">
                          <a:effectLst/>
                          <a:highlight>
                            <a:srgbClr val="F2F2F2"/>
                          </a:highlight>
                          <a:latin typeface="Century Gothic" panose="020B0502020202020204" pitchFamily="34" charset="0"/>
                        </a:rPr>
                        <a:t>Jonathan </a:t>
                      </a:r>
                      <a:r>
                        <a:rPr lang="es-MX" sz="900" b="1" dirty="0" err="1">
                          <a:effectLst/>
                          <a:highlight>
                            <a:srgbClr val="F2F2F2"/>
                          </a:highlight>
                          <a:latin typeface="Century Gothic" panose="020B0502020202020204" pitchFamily="34" charset="0"/>
                        </a:rPr>
                        <a:t>Suriel</a:t>
                      </a:r>
                      <a:r>
                        <a:rPr lang="es-MX" sz="900" b="1" dirty="0">
                          <a:effectLst/>
                          <a:highlight>
                            <a:srgbClr val="F2F2F2"/>
                          </a:highlight>
                          <a:latin typeface="Century Gothic" panose="020B0502020202020204" pitchFamily="34" charset="0"/>
                        </a:rPr>
                        <a:t> Ruiz Rodríguez:</a:t>
                      </a:r>
                      <a:r>
                        <a:rPr lang="es-MX" sz="900" dirty="0">
                          <a:effectLst/>
                          <a:highlight>
                            <a:srgbClr val="F2F2F2"/>
                          </a:highlight>
                          <a:latin typeface="Century Gothic" panose="020B0502020202020204" pitchFamily="34" charset="0"/>
                        </a:rPr>
                        <a:t> Comunicación y Difusión </a:t>
                      </a:r>
                    </a:p>
                    <a:p>
                      <a:pPr rtl="0"/>
                      <a:r>
                        <a:rPr lang="es-MX" sz="900" b="1" dirty="0" err="1">
                          <a:effectLst/>
                          <a:highlight>
                            <a:srgbClr val="F2F2F2"/>
                          </a:highlight>
                          <a:latin typeface="Century Gothic" panose="020B0502020202020204" pitchFamily="34" charset="0"/>
                        </a:rPr>
                        <a:t>Zatdiel</a:t>
                      </a:r>
                      <a:r>
                        <a:rPr lang="es-MX" sz="900" b="1" dirty="0">
                          <a:effectLst/>
                          <a:highlight>
                            <a:srgbClr val="F2F2F2"/>
                          </a:highlight>
                          <a:latin typeface="Century Gothic" panose="020B0502020202020204" pitchFamily="34" charset="0"/>
                        </a:rPr>
                        <a:t> </a:t>
                      </a:r>
                      <a:r>
                        <a:rPr lang="es-MX" sz="900" b="1" dirty="0" err="1">
                          <a:effectLst/>
                          <a:highlight>
                            <a:srgbClr val="F2F2F2"/>
                          </a:highlight>
                          <a:latin typeface="Century Gothic" panose="020B0502020202020204" pitchFamily="34" charset="0"/>
                        </a:rPr>
                        <a:t>Yael</a:t>
                      </a:r>
                      <a:r>
                        <a:rPr lang="es-MX" sz="900" b="1" dirty="0">
                          <a:effectLst/>
                          <a:highlight>
                            <a:srgbClr val="F2F2F2"/>
                          </a:highlight>
                          <a:latin typeface="Century Gothic" panose="020B0502020202020204" pitchFamily="34" charset="0"/>
                        </a:rPr>
                        <a:t> Romo Rivero:</a:t>
                      </a:r>
                      <a:r>
                        <a:rPr lang="es-MX" sz="900" dirty="0">
                          <a:effectLst/>
                          <a:highlight>
                            <a:srgbClr val="F2F2F2"/>
                          </a:highlight>
                          <a:latin typeface="Century Gothic" panose="020B0502020202020204" pitchFamily="34" charset="0"/>
                        </a:rPr>
                        <a:t> Coordinación Técnica (Tecnologías) </a:t>
                      </a: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2817003116"/>
                  </a:ext>
                </a:extLst>
              </a:tr>
            </a:tbl>
          </a:graphicData>
        </a:graphic>
      </p:graphicFrame>
    </p:spTree>
    <p:extLst>
      <p:ext uri="{BB962C8B-B14F-4D97-AF65-F5344CB8AC3E}">
        <p14:creationId xmlns:p14="http://schemas.microsoft.com/office/powerpoint/2010/main" val="2096331201"/>
      </p:ext>
    </p:extLst>
  </p:cSld>
  <p:clrMapOvr>
    <a:masterClrMapping/>
  </p:clrMapOvr>
</p:sld>
</file>

<file path=ppt/theme/theme1.xml><?xml version="1.0" encoding="utf-8"?>
<a:theme xmlns:a="http://schemas.openxmlformats.org/drawingml/2006/main" name="Тема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C-Brand-Strategy-Presentation-Template_PowerPoint" id="{5072B8BC-F743-2846-A5C9-5085C99AD20D}" vid="{9A97CBCC-1D55-0744-816E-F1A204A0548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Тема Office</Template>
  <TotalTime>1046</TotalTime>
  <Words>668</Words>
  <Application>Microsoft Office PowerPoint</Application>
  <PresentationFormat>Panorámica</PresentationFormat>
  <Paragraphs>35</Paragraphs>
  <Slides>2</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vt:i4>
      </vt:variant>
    </vt:vector>
  </HeadingPairs>
  <TitlesOfParts>
    <vt:vector size="8" baseType="lpstr">
      <vt:lpstr>Arial</vt:lpstr>
      <vt:lpstr>Calibri</vt:lpstr>
      <vt:lpstr>Calibri Light</vt:lpstr>
      <vt:lpstr>Century Gothic</vt:lpstr>
      <vt:lpstr>Symbol</vt:lpstr>
      <vt:lpstr>Тема Office</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Erica Waite</dc:creator>
  <cp:lastModifiedBy>ZATDIEL YAEL ROMO RIVERO</cp:lastModifiedBy>
  <cp:revision>47</cp:revision>
  <dcterms:created xsi:type="dcterms:W3CDTF">2022-05-22T18:55:25Z</dcterms:created>
  <dcterms:modified xsi:type="dcterms:W3CDTF">2025-10-22T15:12:49Z</dcterms:modified>
</cp:coreProperties>
</file>