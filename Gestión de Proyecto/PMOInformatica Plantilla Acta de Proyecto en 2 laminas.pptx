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9144000" cy="6858000" type="screen4x3"/>
  <p:notesSz cx="6858000" cy="9144000"/>
  <p:defaultTextStyle>
    <a:defPPr>
      <a:defRPr lang="es-V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D390ED-88D0-4E7A-9733-14D9D8F7B8EC}" v="50" dt="2025-09-19T06:41:04.571"/>
    <p1510:client id="{82819E7E-3C14-4A20-AD37-CF7EEA440E7C}" v="195" dt="2025-09-19T04:55:16.198"/>
    <p1510:client id="{A41D6958-A267-4C21-8BA5-94EDB315FD49}" v="288" dt="2025-09-19T06:45:13.880"/>
    <p1510:client id="{DEFF8D32-B6CA-D4FF-F043-6C96A7207C92}" v="474" dt="2025-09-19T05:00:23.8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5B3F188-691C-8D52-00E0-9E5D01D8647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243F60">
                <a:alpha val="50000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s-VE">
              <a:latin typeface="+mn-lt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95C532F-A560-3311-4031-03EDB053BCE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2875" y="549275"/>
            <a:ext cx="35718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tabLst>
                <a:tab pos="2806700" algn="ctr"/>
                <a:tab pos="5611813" algn="r"/>
              </a:tabLst>
              <a:defRPr/>
            </a:pPr>
            <a:r>
              <a:rPr lang="es-VE" sz="1400" b="1">
                <a:solidFill>
                  <a:srgbClr val="0D0D0D"/>
                </a:solidFill>
                <a:ea typeface="Calibri" pitchFamily="34" charset="0"/>
                <a:cs typeface="Times New Roman" pitchFamily="18" charset="0"/>
              </a:rPr>
              <a:t>La Oficina de Proyectos de Informática</a:t>
            </a:r>
            <a:endParaRPr lang="es-V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441EDC-249B-FC57-A5EB-296A570ED6B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s-VE">
              <a:latin typeface="+mn-lt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B8EF2C-175E-A777-F6BD-A53F2E58AED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72250" y="581025"/>
            <a:ext cx="24288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>
              <a:tabLst>
                <a:tab pos="2806700" algn="ctr"/>
                <a:tab pos="5611813" algn="r"/>
              </a:tabLst>
              <a:defRPr/>
            </a:pPr>
            <a:r>
              <a:rPr lang="es-VE" sz="1200" b="1" i="1">
                <a:solidFill>
                  <a:srgbClr val="365F91"/>
                </a:solidFill>
                <a:ea typeface="Calibri" pitchFamily="34" charset="0"/>
                <a:cs typeface="Times New Roman" pitchFamily="18" charset="0"/>
              </a:rPr>
              <a:t>www.pmoinformatica.com</a:t>
            </a:r>
            <a:endParaRPr lang="es-VE"/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VE"/>
          </a:p>
        </p:txBody>
      </p:sp>
      <p:sp>
        <p:nvSpPr>
          <p:cNvPr id="8" name="3 Marcador de fecha">
            <a:extLst>
              <a:ext uri="{FF2B5EF4-FFF2-40B4-BE49-F238E27FC236}">
                <a16:creationId xmlns:a16="http://schemas.microsoft.com/office/drawing/2014/main" id="{2FC10DAF-394A-2A47-D8F0-D2C163E00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9516D4-F245-4802-98D0-C6DEE063594B}" type="datetimeFigureOut">
              <a:rPr lang="es-VE"/>
              <a:pPr>
                <a:defRPr/>
              </a:pPr>
              <a:t>23/9/2025</a:t>
            </a:fld>
            <a:endParaRPr lang="es-VE"/>
          </a:p>
        </p:txBody>
      </p:sp>
      <p:sp>
        <p:nvSpPr>
          <p:cNvPr id="9" name="4 Marcador de pie de página">
            <a:extLst>
              <a:ext uri="{FF2B5EF4-FFF2-40B4-BE49-F238E27FC236}">
                <a16:creationId xmlns:a16="http://schemas.microsoft.com/office/drawing/2014/main" id="{82FE2719-0F6D-1274-0808-480E82FA1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10" name="5 Marcador de número de diapositiva">
            <a:extLst>
              <a:ext uri="{FF2B5EF4-FFF2-40B4-BE49-F238E27FC236}">
                <a16:creationId xmlns:a16="http://schemas.microsoft.com/office/drawing/2014/main" id="{DB563F8D-2BB7-2B69-8F51-08AD36D1C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8DEEE7-D9FC-4DBC-A708-D711965A77C4}" type="slidenum">
              <a:rPr lang="es-VE" altLang="es-MX"/>
              <a:pPr/>
              <a:t>‹Nº›</a:t>
            </a:fld>
            <a:endParaRPr lang="es-VE" altLang="es-MX"/>
          </a:p>
        </p:txBody>
      </p:sp>
    </p:spTree>
    <p:extLst>
      <p:ext uri="{BB962C8B-B14F-4D97-AF65-F5344CB8AC3E}">
        <p14:creationId xmlns:p14="http://schemas.microsoft.com/office/powerpoint/2010/main" val="999087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C16D2E7F-4FE2-353F-E1BA-50F3886D067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243F60">
                <a:alpha val="50000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s-VE">
              <a:latin typeface="+mn-lt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BD34AA3-CED6-76DA-F4C9-05326C07F84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2875" y="549275"/>
            <a:ext cx="35718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tabLst>
                <a:tab pos="2806700" algn="ctr"/>
                <a:tab pos="5611813" algn="r"/>
              </a:tabLst>
              <a:defRPr/>
            </a:pPr>
            <a:r>
              <a:rPr lang="es-VE" sz="1400" b="1">
                <a:solidFill>
                  <a:srgbClr val="0D0D0D"/>
                </a:solidFill>
                <a:ea typeface="Calibri" pitchFamily="34" charset="0"/>
                <a:cs typeface="Times New Roman" pitchFamily="18" charset="0"/>
              </a:rPr>
              <a:t>La Oficina de Proyectos de Informática</a:t>
            </a:r>
            <a:endParaRPr lang="es-V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75EB48F-D112-3440-D88D-B76295A231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72250" y="581025"/>
            <a:ext cx="24288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>
              <a:tabLst>
                <a:tab pos="2806700" algn="ctr"/>
                <a:tab pos="5611813" algn="r"/>
              </a:tabLst>
              <a:defRPr/>
            </a:pPr>
            <a:r>
              <a:rPr lang="es-VE" sz="1200" b="1" i="1">
                <a:solidFill>
                  <a:srgbClr val="365F91"/>
                </a:solidFill>
                <a:ea typeface="Calibri" pitchFamily="34" charset="0"/>
                <a:cs typeface="Times New Roman" pitchFamily="18" charset="0"/>
              </a:rPr>
              <a:t>www.pmoinformatica.com</a:t>
            </a:r>
            <a:endParaRPr lang="es-VE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7" name="3 Marcador de fecha">
            <a:extLst>
              <a:ext uri="{FF2B5EF4-FFF2-40B4-BE49-F238E27FC236}">
                <a16:creationId xmlns:a16="http://schemas.microsoft.com/office/drawing/2014/main" id="{9CE60EAC-92BD-C016-EB24-A770BD7C9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91ECB6-1404-4992-AD4F-3B6CCE25CAB9}" type="datetimeFigureOut">
              <a:rPr lang="es-VE"/>
              <a:pPr>
                <a:defRPr/>
              </a:pPr>
              <a:t>23/9/2025</a:t>
            </a:fld>
            <a:endParaRPr lang="es-VE"/>
          </a:p>
        </p:txBody>
      </p:sp>
      <p:sp>
        <p:nvSpPr>
          <p:cNvPr id="8" name="4 Marcador de pie de página">
            <a:extLst>
              <a:ext uri="{FF2B5EF4-FFF2-40B4-BE49-F238E27FC236}">
                <a16:creationId xmlns:a16="http://schemas.microsoft.com/office/drawing/2014/main" id="{6193D91F-529A-880F-78FC-DB97894E4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9" name="5 Marcador de número de diapositiva">
            <a:extLst>
              <a:ext uri="{FF2B5EF4-FFF2-40B4-BE49-F238E27FC236}">
                <a16:creationId xmlns:a16="http://schemas.microsoft.com/office/drawing/2014/main" id="{0E8CF96C-03C3-0EF4-5784-654A040F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791A12-5540-462F-9B5D-580AA164ABA1}" type="slidenum">
              <a:rPr lang="es-VE" altLang="es-MX"/>
              <a:pPr/>
              <a:t>‹Nº›</a:t>
            </a:fld>
            <a:endParaRPr lang="es-VE" altLang="es-MX"/>
          </a:p>
        </p:txBody>
      </p:sp>
    </p:spTree>
    <p:extLst>
      <p:ext uri="{BB962C8B-B14F-4D97-AF65-F5344CB8AC3E}">
        <p14:creationId xmlns:p14="http://schemas.microsoft.com/office/powerpoint/2010/main" val="3574629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80F90348-0535-DE7D-C345-615A6131A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F6877E-AEF2-4458-AAF4-0E94774A88A7}" type="datetimeFigureOut">
              <a:rPr lang="es-VE"/>
              <a:pPr>
                <a:defRPr/>
              </a:pPr>
              <a:t>23/9/2025</a:t>
            </a:fld>
            <a:endParaRPr lang="es-VE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1F068723-F432-6C10-9846-5E2F10B4C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316E5AEC-40AC-C6D0-6C3A-8CC33672A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BFBB94-FE44-4334-8138-518966A88486}" type="slidenum">
              <a:rPr lang="es-VE" altLang="es-MX"/>
              <a:pPr/>
              <a:t>‹Nº›</a:t>
            </a:fld>
            <a:endParaRPr lang="es-VE" altLang="es-MX"/>
          </a:p>
        </p:txBody>
      </p:sp>
    </p:spTree>
    <p:extLst>
      <p:ext uri="{BB962C8B-B14F-4D97-AF65-F5344CB8AC3E}">
        <p14:creationId xmlns:p14="http://schemas.microsoft.com/office/powerpoint/2010/main" val="2652822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18162444-F0B5-5400-3D7B-B3455A9F33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243F60">
                <a:alpha val="50000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s-VE">
              <a:latin typeface="+mn-lt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05AF663-34C0-0AB8-0A13-1C3148447AF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2875" y="549275"/>
            <a:ext cx="35718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tabLst>
                <a:tab pos="2806700" algn="ctr"/>
                <a:tab pos="5611813" algn="r"/>
              </a:tabLst>
              <a:defRPr/>
            </a:pPr>
            <a:r>
              <a:rPr lang="es-VE" sz="1400" b="1">
                <a:solidFill>
                  <a:srgbClr val="0D0D0D"/>
                </a:solidFill>
                <a:ea typeface="Calibri" pitchFamily="34" charset="0"/>
                <a:cs typeface="Times New Roman" pitchFamily="18" charset="0"/>
              </a:rPr>
              <a:t>La Oficina de Proyectos de Informática</a:t>
            </a:r>
            <a:endParaRPr lang="es-V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5DF6E5-00CB-68D2-D2B1-098D221441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72250" y="581025"/>
            <a:ext cx="24288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>
              <a:tabLst>
                <a:tab pos="2806700" algn="ctr"/>
                <a:tab pos="5611813" algn="r"/>
              </a:tabLst>
              <a:defRPr/>
            </a:pPr>
            <a:r>
              <a:rPr lang="es-VE" sz="1200" b="1" i="1">
                <a:solidFill>
                  <a:srgbClr val="365F91"/>
                </a:solidFill>
                <a:ea typeface="Calibri" pitchFamily="34" charset="0"/>
                <a:cs typeface="Times New Roman" pitchFamily="18" charset="0"/>
              </a:rPr>
              <a:t>www.pmoinformatica.com</a:t>
            </a:r>
            <a:endParaRPr lang="es-VE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8" name="4 Marcador de fecha">
            <a:extLst>
              <a:ext uri="{FF2B5EF4-FFF2-40B4-BE49-F238E27FC236}">
                <a16:creationId xmlns:a16="http://schemas.microsoft.com/office/drawing/2014/main" id="{6E5E6B66-FA08-1085-50AC-BFD8AC966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904838-34B4-4D37-82BC-927CE10897C4}" type="datetimeFigureOut">
              <a:rPr lang="es-VE"/>
              <a:pPr>
                <a:defRPr/>
              </a:pPr>
              <a:t>23/9/2025</a:t>
            </a:fld>
            <a:endParaRPr lang="es-VE"/>
          </a:p>
        </p:txBody>
      </p:sp>
      <p:sp>
        <p:nvSpPr>
          <p:cNvPr id="9" name="5 Marcador de pie de página">
            <a:extLst>
              <a:ext uri="{FF2B5EF4-FFF2-40B4-BE49-F238E27FC236}">
                <a16:creationId xmlns:a16="http://schemas.microsoft.com/office/drawing/2014/main" id="{968CF953-2684-B395-B34D-86D88427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10" name="6 Marcador de número de diapositiva">
            <a:extLst>
              <a:ext uri="{FF2B5EF4-FFF2-40B4-BE49-F238E27FC236}">
                <a16:creationId xmlns:a16="http://schemas.microsoft.com/office/drawing/2014/main" id="{C6E74E3F-3856-BDB9-1B9F-6129FE12C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FA2497-F490-49C6-95C7-13C4A2CB1FF6}" type="slidenum">
              <a:rPr lang="es-VE" altLang="es-MX"/>
              <a:pPr/>
              <a:t>‹Nº›</a:t>
            </a:fld>
            <a:endParaRPr lang="es-VE" altLang="es-MX"/>
          </a:p>
        </p:txBody>
      </p:sp>
    </p:spTree>
    <p:extLst>
      <p:ext uri="{BB962C8B-B14F-4D97-AF65-F5344CB8AC3E}">
        <p14:creationId xmlns:p14="http://schemas.microsoft.com/office/powerpoint/2010/main" val="1573932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C53AADE0-193D-5D3C-C7E0-34516B9E5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243F60">
                <a:alpha val="50000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s-VE">
              <a:latin typeface="+mn-lt"/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8DAF741-946C-8C22-0343-122D628B95C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2875" y="549275"/>
            <a:ext cx="35718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tabLst>
                <a:tab pos="2806700" algn="ctr"/>
                <a:tab pos="5611813" algn="r"/>
              </a:tabLst>
              <a:defRPr/>
            </a:pPr>
            <a:r>
              <a:rPr lang="es-VE" sz="1400" b="1">
                <a:solidFill>
                  <a:srgbClr val="0D0D0D"/>
                </a:solidFill>
                <a:ea typeface="Calibri" pitchFamily="34" charset="0"/>
                <a:cs typeface="Times New Roman" pitchFamily="18" charset="0"/>
              </a:rPr>
              <a:t>La Oficina de Proyectos de Informática</a:t>
            </a:r>
            <a:endParaRPr lang="es-VE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129BBF6-7C79-6A98-6C69-31B57A1C46F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72250" y="581025"/>
            <a:ext cx="24288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>
              <a:tabLst>
                <a:tab pos="2806700" algn="ctr"/>
                <a:tab pos="5611813" algn="r"/>
              </a:tabLst>
              <a:defRPr/>
            </a:pPr>
            <a:r>
              <a:rPr lang="es-VE" sz="1200" b="1" i="1">
                <a:solidFill>
                  <a:srgbClr val="365F91"/>
                </a:solidFill>
                <a:ea typeface="Calibri" pitchFamily="34" charset="0"/>
                <a:cs typeface="Times New Roman" pitchFamily="18" charset="0"/>
              </a:rPr>
              <a:t>www.pmoinformatica.com</a:t>
            </a:r>
            <a:endParaRPr lang="es-VE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10" name="6 Marcador de fecha">
            <a:extLst>
              <a:ext uri="{FF2B5EF4-FFF2-40B4-BE49-F238E27FC236}">
                <a16:creationId xmlns:a16="http://schemas.microsoft.com/office/drawing/2014/main" id="{8957FFCB-9C18-0038-F618-1254FB097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7397E-B8F1-4459-9FEF-139D67B8A1F8}" type="datetimeFigureOut">
              <a:rPr lang="es-VE"/>
              <a:pPr>
                <a:defRPr/>
              </a:pPr>
              <a:t>23/9/2025</a:t>
            </a:fld>
            <a:endParaRPr lang="es-VE"/>
          </a:p>
        </p:txBody>
      </p:sp>
      <p:sp>
        <p:nvSpPr>
          <p:cNvPr id="11" name="7 Marcador de pie de página">
            <a:extLst>
              <a:ext uri="{FF2B5EF4-FFF2-40B4-BE49-F238E27FC236}">
                <a16:creationId xmlns:a16="http://schemas.microsoft.com/office/drawing/2014/main" id="{CB53EC4A-CF43-426B-66E3-93ECE06F1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12" name="8 Marcador de número de diapositiva">
            <a:extLst>
              <a:ext uri="{FF2B5EF4-FFF2-40B4-BE49-F238E27FC236}">
                <a16:creationId xmlns:a16="http://schemas.microsoft.com/office/drawing/2014/main" id="{5CA90B30-DA5B-2696-157B-FE0061223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8F1FAB-A629-4556-91F7-BBEE7950DC74}" type="slidenum">
              <a:rPr lang="es-VE" altLang="es-MX"/>
              <a:pPr/>
              <a:t>‹Nº›</a:t>
            </a:fld>
            <a:endParaRPr lang="es-VE" altLang="es-MX"/>
          </a:p>
        </p:txBody>
      </p:sp>
    </p:spTree>
    <p:extLst>
      <p:ext uri="{BB962C8B-B14F-4D97-AF65-F5344CB8AC3E}">
        <p14:creationId xmlns:p14="http://schemas.microsoft.com/office/powerpoint/2010/main" val="2441379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3 Marcador de fecha">
            <a:extLst>
              <a:ext uri="{FF2B5EF4-FFF2-40B4-BE49-F238E27FC236}">
                <a16:creationId xmlns:a16="http://schemas.microsoft.com/office/drawing/2014/main" id="{C538102E-F030-C1BE-7542-1AF691EEB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10FA13-4D8D-44ED-B60F-72F477BC04BC}" type="datetimeFigureOut">
              <a:rPr lang="es-VE"/>
              <a:pPr>
                <a:defRPr/>
              </a:pPr>
              <a:t>23/9/2025</a:t>
            </a:fld>
            <a:endParaRPr lang="es-VE"/>
          </a:p>
        </p:txBody>
      </p:sp>
      <p:sp>
        <p:nvSpPr>
          <p:cNvPr id="4" name="4 Marcador de pie de página">
            <a:extLst>
              <a:ext uri="{FF2B5EF4-FFF2-40B4-BE49-F238E27FC236}">
                <a16:creationId xmlns:a16="http://schemas.microsoft.com/office/drawing/2014/main" id="{93163F2C-3277-2DEA-E37D-1DA47B818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309EE046-8348-433C-D3B7-70DE3F149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F24060-E469-430F-858A-3C28D0048EE4}" type="slidenum">
              <a:rPr lang="es-VE" altLang="es-MX"/>
              <a:pPr/>
              <a:t>‹Nº›</a:t>
            </a:fld>
            <a:endParaRPr lang="es-VE" altLang="es-MX"/>
          </a:p>
        </p:txBody>
      </p:sp>
    </p:spTree>
    <p:extLst>
      <p:ext uri="{BB962C8B-B14F-4D97-AF65-F5344CB8AC3E}">
        <p14:creationId xmlns:p14="http://schemas.microsoft.com/office/powerpoint/2010/main" val="1534503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>
            <a:extLst>
              <a:ext uri="{FF2B5EF4-FFF2-40B4-BE49-F238E27FC236}">
                <a16:creationId xmlns:a16="http://schemas.microsoft.com/office/drawing/2014/main" id="{33ED94B1-A030-2D56-CC18-645AA8637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FCE725-E969-4F58-80A4-49C1833B132B}" type="datetimeFigureOut">
              <a:rPr lang="es-VE"/>
              <a:pPr>
                <a:defRPr/>
              </a:pPr>
              <a:t>23/9/2025</a:t>
            </a:fld>
            <a:endParaRPr lang="es-VE"/>
          </a:p>
        </p:txBody>
      </p:sp>
      <p:sp>
        <p:nvSpPr>
          <p:cNvPr id="3" name="4 Marcador de pie de página">
            <a:extLst>
              <a:ext uri="{FF2B5EF4-FFF2-40B4-BE49-F238E27FC236}">
                <a16:creationId xmlns:a16="http://schemas.microsoft.com/office/drawing/2014/main" id="{77EAABBD-7140-CD65-016A-82AC18270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4" name="5 Marcador de número de diapositiva">
            <a:extLst>
              <a:ext uri="{FF2B5EF4-FFF2-40B4-BE49-F238E27FC236}">
                <a16:creationId xmlns:a16="http://schemas.microsoft.com/office/drawing/2014/main" id="{9F8FBD9B-31BB-C09E-2C21-505015AF8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059559-49F3-43E0-9019-2DC6CEEF52BF}" type="slidenum">
              <a:rPr lang="es-VE" altLang="es-MX"/>
              <a:pPr/>
              <a:t>‹Nº›</a:t>
            </a:fld>
            <a:endParaRPr lang="es-VE" altLang="es-MX"/>
          </a:p>
        </p:txBody>
      </p:sp>
    </p:spTree>
    <p:extLst>
      <p:ext uri="{BB962C8B-B14F-4D97-AF65-F5344CB8AC3E}">
        <p14:creationId xmlns:p14="http://schemas.microsoft.com/office/powerpoint/2010/main" val="193459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>
            <a:extLst>
              <a:ext uri="{FF2B5EF4-FFF2-40B4-BE49-F238E27FC236}">
                <a16:creationId xmlns:a16="http://schemas.microsoft.com/office/drawing/2014/main" id="{AFED2800-AC92-D2A8-9600-B07F3031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6D4DA-E7A9-4B3E-92F0-D49F6624C52F}" type="datetimeFigureOut">
              <a:rPr lang="es-VE"/>
              <a:pPr>
                <a:defRPr/>
              </a:pPr>
              <a:t>23/9/2025</a:t>
            </a:fld>
            <a:endParaRPr lang="es-VE"/>
          </a:p>
        </p:txBody>
      </p:sp>
      <p:sp>
        <p:nvSpPr>
          <p:cNvPr id="6" name="4 Marcador de pie de página">
            <a:extLst>
              <a:ext uri="{FF2B5EF4-FFF2-40B4-BE49-F238E27FC236}">
                <a16:creationId xmlns:a16="http://schemas.microsoft.com/office/drawing/2014/main" id="{AABB1BD6-6C61-9A2B-C3AA-08B442D80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7" name="5 Marcador de número de diapositiva">
            <a:extLst>
              <a:ext uri="{FF2B5EF4-FFF2-40B4-BE49-F238E27FC236}">
                <a16:creationId xmlns:a16="http://schemas.microsoft.com/office/drawing/2014/main" id="{AAB5E43B-CB1C-0984-38E8-0D8A1A101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D761AB-5057-49FC-88E6-5F4BFD62FD44}" type="slidenum">
              <a:rPr lang="es-VE" altLang="es-MX"/>
              <a:pPr/>
              <a:t>‹Nº›</a:t>
            </a:fld>
            <a:endParaRPr lang="es-VE" altLang="es-MX"/>
          </a:p>
        </p:txBody>
      </p:sp>
    </p:spTree>
    <p:extLst>
      <p:ext uri="{BB962C8B-B14F-4D97-AF65-F5344CB8AC3E}">
        <p14:creationId xmlns:p14="http://schemas.microsoft.com/office/powerpoint/2010/main" val="2650918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VE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>
            <a:extLst>
              <a:ext uri="{FF2B5EF4-FFF2-40B4-BE49-F238E27FC236}">
                <a16:creationId xmlns:a16="http://schemas.microsoft.com/office/drawing/2014/main" id="{5CAAB651-F65E-BABD-C3EE-3A609E593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5105ED-C506-47BB-B19C-152280B18C1D}" type="datetimeFigureOut">
              <a:rPr lang="es-VE"/>
              <a:pPr>
                <a:defRPr/>
              </a:pPr>
              <a:t>23/9/2025</a:t>
            </a:fld>
            <a:endParaRPr lang="es-VE"/>
          </a:p>
        </p:txBody>
      </p:sp>
      <p:sp>
        <p:nvSpPr>
          <p:cNvPr id="6" name="4 Marcador de pie de página">
            <a:extLst>
              <a:ext uri="{FF2B5EF4-FFF2-40B4-BE49-F238E27FC236}">
                <a16:creationId xmlns:a16="http://schemas.microsoft.com/office/drawing/2014/main" id="{CFBA9C80-8955-B77E-2CD2-5AA9A0C91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7" name="5 Marcador de número de diapositiva">
            <a:extLst>
              <a:ext uri="{FF2B5EF4-FFF2-40B4-BE49-F238E27FC236}">
                <a16:creationId xmlns:a16="http://schemas.microsoft.com/office/drawing/2014/main" id="{E40BACED-B683-3AE4-9A68-C8C6C5088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8F5E00-4B42-4027-B7EB-99164ED21EE2}" type="slidenum">
              <a:rPr lang="es-VE" altLang="es-MX"/>
              <a:pPr/>
              <a:t>‹Nº›</a:t>
            </a:fld>
            <a:endParaRPr lang="es-VE" altLang="es-MX"/>
          </a:p>
        </p:txBody>
      </p:sp>
    </p:spTree>
    <p:extLst>
      <p:ext uri="{BB962C8B-B14F-4D97-AF65-F5344CB8AC3E}">
        <p14:creationId xmlns:p14="http://schemas.microsoft.com/office/powerpoint/2010/main" val="490312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B0DBEEDA-9FFE-B0BB-FD6C-8C59629FB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AD9253-1822-4E63-B7A9-A3FB2AD1AA9C}" type="datetimeFigureOut">
              <a:rPr lang="es-VE"/>
              <a:pPr>
                <a:defRPr/>
              </a:pPr>
              <a:t>23/9/2025</a:t>
            </a:fld>
            <a:endParaRPr lang="es-VE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FD84E1A2-6AEB-B949-1C14-3FB30925A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38125826-EAE0-22F9-6A7E-AC37CAC58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B2B54D-B1E9-4575-951C-9777A80C0A6A}" type="slidenum">
              <a:rPr lang="es-VE" altLang="es-MX"/>
              <a:pPr/>
              <a:t>‹Nº›</a:t>
            </a:fld>
            <a:endParaRPr lang="es-VE" altLang="es-MX"/>
          </a:p>
        </p:txBody>
      </p:sp>
    </p:spTree>
    <p:extLst>
      <p:ext uri="{BB962C8B-B14F-4D97-AF65-F5344CB8AC3E}">
        <p14:creationId xmlns:p14="http://schemas.microsoft.com/office/powerpoint/2010/main" val="14081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51702570-BF90-FABA-84F2-75D50F425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5AC9DB-FC23-4E0A-BEFB-B8EC7CDD7670}" type="datetimeFigureOut">
              <a:rPr lang="es-VE"/>
              <a:pPr>
                <a:defRPr/>
              </a:pPr>
              <a:t>23/9/2025</a:t>
            </a:fld>
            <a:endParaRPr lang="es-VE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1CCAFEFA-148B-0803-CC5A-18E4753B7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058CBFAD-C0FD-C921-200B-ADF72FA91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437D18-9EE6-4F64-B6F0-B063A394F419}" type="slidenum">
              <a:rPr lang="es-VE" altLang="es-MX"/>
              <a:pPr/>
              <a:t>‹Nº›</a:t>
            </a:fld>
            <a:endParaRPr lang="es-VE" altLang="es-MX"/>
          </a:p>
        </p:txBody>
      </p:sp>
    </p:spTree>
    <p:extLst>
      <p:ext uri="{BB962C8B-B14F-4D97-AF65-F5344CB8AC3E}">
        <p14:creationId xmlns:p14="http://schemas.microsoft.com/office/powerpoint/2010/main" val="685617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>
            <a:extLst>
              <a:ext uri="{FF2B5EF4-FFF2-40B4-BE49-F238E27FC236}">
                <a16:creationId xmlns:a16="http://schemas.microsoft.com/office/drawing/2014/main" id="{F252C2A6-4FDF-DB9B-E68C-CC3FD972A73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MX"/>
              <a:t>Haga clic para modificar el estilo de título del patrón</a:t>
            </a:r>
            <a:endParaRPr lang="es-VE" altLang="es-MX"/>
          </a:p>
        </p:txBody>
      </p:sp>
      <p:sp>
        <p:nvSpPr>
          <p:cNvPr id="1027" name="2 Marcador de texto">
            <a:extLst>
              <a:ext uri="{FF2B5EF4-FFF2-40B4-BE49-F238E27FC236}">
                <a16:creationId xmlns:a16="http://schemas.microsoft.com/office/drawing/2014/main" id="{8EC198A7-5BD4-C9B4-4B46-CCB3F24758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MX"/>
              <a:t>Haga clic para modificar el estilo de texto del patrón</a:t>
            </a:r>
          </a:p>
          <a:p>
            <a:pPr lvl="1"/>
            <a:r>
              <a:rPr lang="es-ES" altLang="es-MX"/>
              <a:t>Segundo nivel</a:t>
            </a:r>
          </a:p>
          <a:p>
            <a:pPr lvl="2"/>
            <a:r>
              <a:rPr lang="es-ES" altLang="es-MX"/>
              <a:t>Tercer nivel</a:t>
            </a:r>
          </a:p>
          <a:p>
            <a:pPr lvl="3"/>
            <a:r>
              <a:rPr lang="es-ES" altLang="es-MX"/>
              <a:t>Cuarto nivel</a:t>
            </a:r>
          </a:p>
          <a:p>
            <a:pPr lvl="4"/>
            <a:r>
              <a:rPr lang="es-ES" altLang="es-MX"/>
              <a:t>Quinto nivel</a:t>
            </a:r>
            <a:endParaRPr lang="es-VE" altLang="es-MX"/>
          </a:p>
        </p:txBody>
      </p:sp>
      <p:sp>
        <p:nvSpPr>
          <p:cNvPr id="4" name="3 Marcador de fecha">
            <a:extLst>
              <a:ext uri="{FF2B5EF4-FFF2-40B4-BE49-F238E27FC236}">
                <a16:creationId xmlns:a16="http://schemas.microsoft.com/office/drawing/2014/main" id="{9FDF453C-5D49-AE14-E096-999F9556EE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308F9E1-825D-4C02-8511-308BD5F06CD0}" type="datetimeFigureOut">
              <a:rPr lang="es-VE"/>
              <a:pPr>
                <a:defRPr/>
              </a:pPr>
              <a:t>23/9/2025</a:t>
            </a:fld>
            <a:endParaRPr lang="es-VE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A2813C5F-577A-CD53-9233-DA14CE956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B67798CA-14F7-1A59-62B3-238E74EC11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B22AC580-B44D-4051-94D5-95C77A746D6A}" type="slidenum">
              <a:rPr lang="es-VE" altLang="es-MX"/>
              <a:pPr/>
              <a:t>‹Nº›</a:t>
            </a:fld>
            <a:endParaRPr lang="es-VE" alt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64" r:id="rId3"/>
    <p:sldLayoutId id="2147483673" r:id="rId4"/>
    <p:sldLayoutId id="214748367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1 Título">
            <a:extLst>
              <a:ext uri="{FF2B5EF4-FFF2-40B4-BE49-F238E27FC236}">
                <a16:creationId xmlns:a16="http://schemas.microsoft.com/office/drawing/2014/main" id="{0690A571-4661-7076-2827-57AE949EBC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VE" altLang="es-MX" b="1"/>
              <a:t>Acta de Proyecto</a:t>
            </a: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896BF11C-E991-E877-BCA2-B70B8B598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2428875"/>
          </a:xfrm>
        </p:spPr>
        <p:txBody>
          <a:bodyPr rtlCol="0">
            <a:normAutofit fontScale="62500" lnSpcReduction="20000"/>
          </a:bodyPr>
          <a:lstStyle/>
          <a:p>
            <a:pPr algn="just" fontAlgn="auto">
              <a:spcAft>
                <a:spcPts val="0"/>
              </a:spcAft>
              <a:defRPr/>
            </a:pPr>
            <a:r>
              <a:rPr lang="es-VE" sz="2800" b="1"/>
              <a:t>Proyecto: </a:t>
            </a:r>
            <a:r>
              <a:rPr lang="es-VE" sz="2800" b="1">
                <a:solidFill>
                  <a:srgbClr val="898989"/>
                </a:solidFill>
              </a:rPr>
              <a:t>[</a:t>
            </a:r>
            <a:r>
              <a:rPr lang="es-MX" sz="2800" b="1" dirty="0">
                <a:solidFill>
                  <a:srgbClr val="00B050"/>
                </a:solidFill>
              </a:rPr>
              <a:t>Reducción al alto </a:t>
            </a:r>
            <a:r>
              <a:rPr lang="es-MX" sz="2800" b="1">
                <a:solidFill>
                  <a:srgbClr val="00B050"/>
                </a:solidFill>
              </a:rPr>
              <a:t>índice de reprobación en la licenciatura de Ingeniería en Computación </a:t>
            </a:r>
            <a:r>
              <a:rPr lang="es-MX" sz="2800" b="1" dirty="0">
                <a:solidFill>
                  <a:srgbClr val="00B050"/>
                </a:solidFill>
              </a:rPr>
              <a:t>derivado al </a:t>
            </a:r>
            <a:r>
              <a:rPr lang="es-MX" sz="2800" b="1">
                <a:solidFill>
                  <a:srgbClr val="00B050"/>
                </a:solidFill>
              </a:rPr>
              <a:t>desconocimiento de baja de materias en alumnos de primer semestre</a:t>
            </a:r>
            <a:r>
              <a:rPr lang="es-VE" sz="2800" b="1" dirty="0">
                <a:solidFill>
                  <a:schemeClr val="bg1">
                    <a:lumMod val="65000"/>
                  </a:schemeClr>
                </a:solidFill>
              </a:rPr>
              <a:t>]</a:t>
            </a:r>
          </a:p>
          <a:p>
            <a:pPr algn="l" fontAlgn="auto">
              <a:spcAft>
                <a:spcPts val="0"/>
              </a:spcAft>
              <a:defRPr/>
            </a:pPr>
            <a:r>
              <a:rPr lang="es-VE" sz="2800" b="1"/>
              <a:t>Organización: </a:t>
            </a:r>
            <a:r>
              <a:rPr lang="es-VE" sz="2800" b="1">
                <a:solidFill>
                  <a:srgbClr val="00B050"/>
                </a:solidFill>
              </a:rPr>
              <a:t>[</a:t>
            </a:r>
            <a:r>
              <a:rPr lang="es-VE" sz="2800" b="1" dirty="0">
                <a:solidFill>
                  <a:srgbClr val="00B050"/>
                </a:solidFill>
              </a:rPr>
              <a:t>Centro Universitario UAEM Zumpango</a:t>
            </a:r>
            <a:r>
              <a:rPr lang="es-VE" sz="2800" b="1">
                <a:solidFill>
                  <a:srgbClr val="00B050"/>
                </a:solidFill>
              </a:rPr>
              <a:t>]</a:t>
            </a:r>
            <a:endParaRPr lang="es-VE" sz="2800" b="1"/>
          </a:p>
          <a:p>
            <a:pPr algn="l" fontAlgn="auto">
              <a:spcAft>
                <a:spcPts val="0"/>
              </a:spcAft>
              <a:defRPr/>
            </a:pPr>
            <a:r>
              <a:rPr lang="es-VE" sz="2800" b="1"/>
              <a:t>Fecha:</a:t>
            </a:r>
            <a:r>
              <a:rPr lang="es-VE" sz="2800"/>
              <a:t> </a:t>
            </a:r>
            <a:r>
              <a:rPr lang="es-VE" sz="2800" b="1">
                <a:solidFill>
                  <a:srgbClr val="00B050"/>
                </a:solidFill>
              </a:rPr>
              <a:t>[18/09/2025]</a:t>
            </a:r>
            <a:endParaRPr lang="es-VE" sz="2800" b="1">
              <a:solidFill>
                <a:srgbClr val="00B050"/>
              </a:solidFill>
              <a:ea typeface="Calibri"/>
              <a:cs typeface="Calibri"/>
            </a:endParaRPr>
          </a:p>
          <a:p>
            <a:pPr algn="l" fontAlgn="auto">
              <a:spcAft>
                <a:spcPts val="0"/>
              </a:spcAft>
              <a:defRPr/>
            </a:pPr>
            <a:r>
              <a:rPr lang="es-VE" sz="2800" b="1"/>
              <a:t>Cliente: </a:t>
            </a:r>
            <a:r>
              <a:rPr lang="es-VE" sz="2800" b="1">
                <a:solidFill>
                  <a:srgbClr val="00B050"/>
                </a:solidFill>
              </a:rPr>
              <a:t>[Estudiantes de primer semestre de I.C.O</a:t>
            </a:r>
          </a:p>
          <a:p>
            <a:pPr algn="l" fontAlgn="auto">
              <a:spcAft>
                <a:spcPts val="0"/>
              </a:spcAft>
              <a:defRPr/>
            </a:pPr>
            <a:r>
              <a:rPr lang="es-VE" sz="2800" b="1"/>
              <a:t>Patrocinador: </a:t>
            </a:r>
            <a:r>
              <a:rPr lang="es-VE" sz="2800" b="1">
                <a:solidFill>
                  <a:srgbClr val="00B050"/>
                </a:solidFill>
              </a:rPr>
              <a:t>[Coordinación de I.C.O]</a:t>
            </a:r>
            <a:endParaRPr lang="es-VE" sz="2800" b="1"/>
          </a:p>
          <a:p>
            <a:pPr algn="l" fontAlgn="auto">
              <a:spcAft>
                <a:spcPts val="0"/>
              </a:spcAft>
              <a:defRPr/>
            </a:pPr>
            <a:r>
              <a:rPr lang="es-VE" sz="2800" b="1"/>
              <a:t>Gerente del Proyecto: </a:t>
            </a:r>
            <a:r>
              <a:rPr lang="es-VE" sz="2800" b="1">
                <a:solidFill>
                  <a:srgbClr val="00B050"/>
                </a:solidFill>
              </a:rPr>
              <a:t>[</a:t>
            </a:r>
            <a:r>
              <a:rPr lang="es-VE" sz="2800" b="1" dirty="0">
                <a:solidFill>
                  <a:srgbClr val="00B050"/>
                </a:solidFill>
              </a:rPr>
              <a:t>Brayan Cruz Hernández</a:t>
            </a:r>
            <a:r>
              <a:rPr lang="es-VE" sz="2800" b="1">
                <a:solidFill>
                  <a:srgbClr val="00B050"/>
                </a:solidFill>
              </a:rPr>
              <a:t>]</a:t>
            </a:r>
            <a:endParaRPr lang="es-VE" sz="2800" b="1"/>
          </a:p>
          <a:p>
            <a:pPr algn="l" fontAlgn="auto">
              <a:spcAft>
                <a:spcPts val="0"/>
              </a:spcAft>
              <a:defRPr/>
            </a:pPr>
            <a:endParaRPr lang="es-VE" sz="2800" b="1"/>
          </a:p>
          <a:p>
            <a:pPr algn="l" fontAlgn="auto">
              <a:spcAft>
                <a:spcPts val="0"/>
              </a:spcAft>
              <a:defRPr/>
            </a:pPr>
            <a:endParaRPr lang="es-VE" sz="2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2 Marcador de contenido">
            <a:extLst>
              <a:ext uri="{FF2B5EF4-FFF2-40B4-BE49-F238E27FC236}">
                <a16:creationId xmlns:a16="http://schemas.microsoft.com/office/drawing/2014/main" id="{3C27CEBF-05B8-692D-36DB-56F7A3D723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2888" y="1636713"/>
            <a:ext cx="4257675" cy="2000250"/>
          </a:xfrm>
          <a:ln w="317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 marL="85725" indent="0" algn="ctr">
              <a:buFont typeface="Arial" panose="020B0604020202020204" pitchFamily="34" charset="0"/>
              <a:buNone/>
            </a:pPr>
            <a:r>
              <a:rPr lang="es-VE" altLang="es-MX" sz="1600" b="1"/>
              <a:t>Justificación y Descripción del Proyecto</a:t>
            </a:r>
            <a:endParaRPr lang="es-VE" altLang="es-MX" sz="1600">
              <a:ea typeface="Calibri"/>
              <a:cs typeface="Calibri"/>
            </a:endParaRPr>
          </a:p>
          <a:p>
            <a:pPr marL="85725" indent="0">
              <a:buNone/>
            </a:pPr>
            <a:r>
              <a:rPr lang="es-VE" sz="1100">
                <a:ea typeface="+mn-lt"/>
                <a:cs typeface="+mn-lt"/>
              </a:rPr>
              <a:t>En la licenciatura de Ingeniería en Computación los alumnos de primer semestre no tienen la noción o la información necesaria para saber que pueden dar de baja una materia que estén a punto de reprobar, por lo cual la mayoría de los alumnos reprueba las materias y suele desertar debido a la dificultad de la carrera.</a:t>
            </a:r>
          </a:p>
          <a:p>
            <a:pPr marL="85725" indent="0">
              <a:buNone/>
            </a:pPr>
            <a:r>
              <a:rPr lang="es-VE" sz="1100">
                <a:ea typeface="+mn-lt"/>
                <a:cs typeface="+mn-lt"/>
              </a:rPr>
              <a:t>se busca proporcionar un apoyo preventivo que ayude a los estudiantes a gestionar mejor su carga académica, evitando reprobar materias innecesariamente y contribuyendo a mejorar los índices de retención, desempeño académico y permanencia en la carrera.</a:t>
            </a:r>
            <a:endParaRPr lang="es-VE" sz="1100">
              <a:ea typeface="Calibri"/>
              <a:cs typeface="Calibri"/>
            </a:endParaRPr>
          </a:p>
        </p:txBody>
      </p:sp>
      <p:sp>
        <p:nvSpPr>
          <p:cNvPr id="7171" name="2 Marcador de contenido">
            <a:extLst>
              <a:ext uri="{FF2B5EF4-FFF2-40B4-BE49-F238E27FC236}">
                <a16:creationId xmlns:a16="http://schemas.microsoft.com/office/drawing/2014/main" id="{435FA348-869D-E533-5B7D-6CE41EEFB6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4313" y="3779838"/>
            <a:ext cx="4286250" cy="2792412"/>
          </a:xfrm>
          <a:ln w="3175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 marL="85725" indent="0" algn="ctr">
              <a:buFont typeface="Arial" panose="020B0604020202020204" pitchFamily="34" charset="0"/>
              <a:buNone/>
            </a:pPr>
            <a:r>
              <a:rPr lang="es-VE" altLang="es-MX" sz="1600" b="1"/>
              <a:t>Objetivos</a:t>
            </a:r>
            <a:endParaRPr lang="es-VE" altLang="es-MX" sz="1600" b="1">
              <a:ea typeface="Calibri"/>
              <a:cs typeface="Calibri"/>
            </a:endParaRPr>
          </a:p>
          <a:p>
            <a:pPr marL="85725" indent="0">
              <a:buNone/>
            </a:pPr>
            <a:r>
              <a:rPr lang="es-VE" altLang="es-MX" sz="1100" b="1"/>
              <a:t>Alcance: </a:t>
            </a:r>
            <a:r>
              <a:rPr lang="es-VE" sz="1100">
                <a:ea typeface="+mn-lt"/>
                <a:cs typeface="+mn-lt"/>
              </a:rPr>
              <a:t>Difundir de Manera Activa las Fechas y Procedimientos Clave</a:t>
            </a:r>
            <a:endParaRPr lang="es-VE" altLang="es-MX" sz="1100" b="1">
              <a:ea typeface="Calibri"/>
              <a:cs typeface="Calibri"/>
            </a:endParaRPr>
          </a:p>
          <a:p>
            <a:pPr marL="85725" indent="0">
              <a:buNone/>
            </a:pPr>
            <a:r>
              <a:rPr lang="es-VE" altLang="es-MX" sz="1100" b="1"/>
              <a:t>Tiempo: </a:t>
            </a:r>
            <a:r>
              <a:rPr lang="es-VE" sz="1100">
                <a:ea typeface="+mn-lt"/>
                <a:cs typeface="+mn-lt"/>
              </a:rPr>
              <a:t>La campaña se ejecutará de forma intensiva desde el primer día de clases del semestre hasta la fecha límite oficial para la baja de materias</a:t>
            </a:r>
            <a:endParaRPr lang="es-VE" altLang="es-MX" sz="1100">
              <a:ea typeface="Calibri"/>
              <a:cs typeface="Calibri"/>
            </a:endParaRPr>
          </a:p>
          <a:p>
            <a:pPr marL="85725" indent="0">
              <a:buNone/>
            </a:pPr>
            <a:r>
              <a:rPr lang="es-VE" altLang="es-MX" sz="1100" b="1"/>
              <a:t>Costo: </a:t>
            </a:r>
            <a:r>
              <a:rPr lang="es-VE" altLang="es-MX" sz="1100">
                <a:ea typeface="+mn-lt"/>
                <a:cs typeface="+mn-lt"/>
              </a:rPr>
              <a:t>El proyecto se ejecutará utilizando los recursos existentes de la coordinación (plataformas digitales, personal. No se requiere un presupuesto adicional.</a:t>
            </a:r>
            <a:endParaRPr lang="es-VE" altLang="es-MX" sz="1100">
              <a:ea typeface="Calibri"/>
              <a:cs typeface="Calibri"/>
            </a:endParaRPr>
          </a:p>
          <a:p>
            <a:pPr marL="85725" indent="0">
              <a:buNone/>
            </a:pPr>
            <a:r>
              <a:rPr lang="es-VE" altLang="es-MX" sz="1100" b="1"/>
              <a:t>Calidad: </a:t>
            </a:r>
            <a:r>
              <a:rPr lang="es-VE" sz="1100" b="1">
                <a:ea typeface="+mn-lt"/>
                <a:cs typeface="+mn-lt"/>
              </a:rPr>
              <a:t>:</a:t>
            </a:r>
            <a:r>
              <a:rPr lang="es-VE" sz="1100">
                <a:ea typeface="+mn-lt"/>
                <a:cs typeface="+mn-lt"/>
              </a:rPr>
              <a:t> La información debe ser única, clara y centralizada en un solo enlace oficial. El éxito se medirá por la capacidad de asegurar que al menos el 90% de los estudiantes de primer semestre recibieron la comunicación por al menos por los canales distintos, eliminando el desconocimiento del proceso como un factor de riesgo.</a:t>
            </a:r>
          </a:p>
          <a:p>
            <a:pPr marL="85725" indent="0">
              <a:buFont typeface="Arial" panose="020B0604020202020204" pitchFamily="34" charset="0"/>
              <a:buNone/>
            </a:pPr>
            <a:endParaRPr lang="es-VE" altLang="es-MX" sz="1100">
              <a:ea typeface="Calibri"/>
              <a:cs typeface="Calibri"/>
            </a:endParaRPr>
          </a:p>
        </p:txBody>
      </p:sp>
      <p:sp>
        <p:nvSpPr>
          <p:cNvPr id="14" name="2 Marcador de contenido">
            <a:extLst>
              <a:ext uri="{FF2B5EF4-FFF2-40B4-BE49-F238E27FC236}">
                <a16:creationId xmlns:a16="http://schemas.microsoft.com/office/drawing/2014/main" id="{55FBE5B7-3B66-9B65-B552-56BD3591F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43438" y="5061712"/>
            <a:ext cx="4249674" cy="1519682"/>
          </a:xfrm>
          <a:ln w="31750">
            <a:solidFill>
              <a:schemeClr val="accent1"/>
            </a:solidFill>
          </a:ln>
        </p:spPr>
        <p:txBody>
          <a:bodyPr rtlCol="0">
            <a:noAutofit/>
          </a:bodyPr>
          <a:lstStyle/>
          <a:p>
            <a:pPr marL="85725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s-VE" sz="1600" b="1"/>
              <a:t>Lista de Hitos</a:t>
            </a:r>
          </a:p>
          <a:p>
            <a:pPr marL="276225" indent="-190500" fontAlgn="auto">
              <a:spcAft>
                <a:spcPts val="0"/>
              </a:spcAft>
              <a:defRPr/>
            </a:pPr>
            <a:r>
              <a:rPr lang="es-VE" sz="1300" dirty="0"/>
              <a:t>[26/09/2025</a:t>
            </a:r>
            <a:r>
              <a:rPr lang="es-VE" sz="1300" b="1" dirty="0"/>
              <a:t>: </a:t>
            </a:r>
            <a:r>
              <a:rPr lang="es-VE" sz="1300" dirty="0"/>
              <a:t>[Creación y centralización de la campaña]. </a:t>
            </a:r>
          </a:p>
          <a:p>
            <a:pPr marL="276225" indent="-190500" fontAlgn="auto">
              <a:spcAft>
                <a:spcPts val="0"/>
              </a:spcAft>
              <a:defRPr/>
            </a:pPr>
            <a:r>
              <a:rPr lang="es-VE" sz="1300" dirty="0"/>
              <a:t>[02/10/2025</a:t>
            </a:r>
            <a:r>
              <a:rPr lang="es-VE" sz="1300" b="1" dirty="0"/>
              <a:t>: </a:t>
            </a:r>
            <a:r>
              <a:rPr lang="es-VE" sz="1300" dirty="0"/>
              <a:t>[</a:t>
            </a:r>
            <a:r>
              <a:rPr kumimoji="0" lang="es-VE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Capacitación de los canales humanos</a:t>
            </a:r>
            <a:r>
              <a:rPr lang="es-VE" sz="1300" dirty="0"/>
              <a:t>].</a:t>
            </a:r>
            <a:endParaRPr lang="es-VE" sz="1300" dirty="0">
              <a:ea typeface="Calibri"/>
              <a:cs typeface="Calibri"/>
            </a:endParaRPr>
          </a:p>
          <a:p>
            <a:pPr marL="276225" indent="-190500" fontAlgn="auto">
              <a:spcAft>
                <a:spcPts val="0"/>
              </a:spcAft>
              <a:defRPr/>
            </a:pPr>
            <a:r>
              <a:rPr lang="es-VE" sz="1300" dirty="0"/>
              <a:t>[13/10/2025</a:t>
            </a:r>
            <a:r>
              <a:rPr lang="es-VE" sz="1300" b="1" dirty="0"/>
              <a:t>: </a:t>
            </a:r>
            <a:r>
              <a:rPr lang="es-VE" sz="1300" dirty="0"/>
              <a:t>[Lanzamiento y ejecución de la campaña.]. </a:t>
            </a:r>
            <a:endParaRPr lang="es-VE" sz="1300" dirty="0">
              <a:ea typeface="Calibri"/>
              <a:cs typeface="Calibri"/>
            </a:endParaRPr>
          </a:p>
          <a:p>
            <a:pPr marL="276225" indent="-190500" fontAlgn="auto">
              <a:spcAft>
                <a:spcPts val="0"/>
              </a:spcAft>
              <a:defRPr/>
            </a:pPr>
            <a:r>
              <a:rPr lang="es-VE" sz="1300" dirty="0"/>
              <a:t>[24/10/2025</a:t>
            </a:r>
            <a:r>
              <a:rPr lang="es-VE" sz="1300" b="1" dirty="0"/>
              <a:t>: </a:t>
            </a:r>
            <a:r>
              <a:rPr lang="es-VE" sz="1300" dirty="0"/>
              <a:t>[Refuerzo  recordatorio “Ultima llamada”]. </a:t>
            </a:r>
          </a:p>
        </p:txBody>
      </p:sp>
      <p:sp>
        <p:nvSpPr>
          <p:cNvPr id="15" name="2 Marcador de contenido">
            <a:extLst>
              <a:ext uri="{FF2B5EF4-FFF2-40B4-BE49-F238E27FC236}">
                <a16:creationId xmlns:a16="http://schemas.microsoft.com/office/drawing/2014/main" id="{CAE68C22-6C48-0498-2FC0-F0AEFDDD4E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43438" y="1572705"/>
            <a:ext cx="4257675" cy="1745361"/>
          </a:xfrm>
          <a:ln w="31750">
            <a:solidFill>
              <a:schemeClr val="accent1"/>
            </a:solidFill>
          </a:ln>
        </p:spPr>
        <p:txBody>
          <a:bodyPr rtlCol="0">
            <a:noAutofit/>
          </a:bodyPr>
          <a:lstStyle/>
          <a:p>
            <a:pPr marL="85725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s-VE" sz="1600" b="1"/>
              <a:t>Riesgos Generales</a:t>
            </a:r>
            <a:endParaRPr lang="es-VE" sz="1600" b="1">
              <a:ea typeface="Calibri"/>
              <a:cs typeface="Calibri"/>
            </a:endParaRPr>
          </a:p>
          <a:p>
            <a:pPr marL="361950" indent="-276225" algn="just" fontAlgn="auto">
              <a:spcAft>
                <a:spcPts val="0"/>
              </a:spcAft>
              <a:defRPr/>
            </a:pPr>
            <a:r>
              <a:rPr lang="es-MX" sz="1050"/>
              <a:t>El principal riesgo es que el reglamento universitario establece plazos muy estrictos para dar de baja materias, y estos no se pueden extender, aunque los alumnos lo necesiten.</a:t>
            </a:r>
            <a:endParaRPr lang="es-VE" sz="1050"/>
          </a:p>
          <a:p>
            <a:pPr marL="361950" indent="-276225" fontAlgn="auto">
              <a:spcAft>
                <a:spcPts val="0"/>
              </a:spcAft>
              <a:defRPr/>
            </a:pPr>
            <a:r>
              <a:rPr lang="es-VE" sz="1050">
                <a:ea typeface="+mn-lt"/>
                <a:cs typeface="+mn-lt"/>
              </a:rPr>
              <a:t>Que los alumnos ignoren los comunicados debido a la sobrecarga de información general al inicio del semestre.</a:t>
            </a:r>
            <a:r>
              <a:rPr lang="es-VE" sz="1050"/>
              <a:t>.</a:t>
            </a:r>
            <a:endParaRPr lang="es-VE" sz="1050">
              <a:ea typeface="Calibri"/>
              <a:cs typeface="Calibri"/>
            </a:endParaRPr>
          </a:p>
          <a:p>
            <a:pPr marL="361950" indent="-276225" fontAlgn="auto">
              <a:spcAft>
                <a:spcPts val="0"/>
              </a:spcAft>
              <a:defRPr/>
            </a:pPr>
            <a:r>
              <a:rPr lang="es-MX" sz="1050"/>
              <a:t>Existe la posibilidad de que la coordinación académica no cuente con la aprobación para implementar nuevas actividades si no están en el plan institucional. </a:t>
            </a:r>
            <a:endParaRPr lang="es-VE" sz="1050"/>
          </a:p>
        </p:txBody>
      </p:sp>
      <p:sp>
        <p:nvSpPr>
          <p:cNvPr id="17" name="2 Marcador de contenido">
            <a:extLst>
              <a:ext uri="{FF2B5EF4-FFF2-40B4-BE49-F238E27FC236}">
                <a16:creationId xmlns:a16="http://schemas.microsoft.com/office/drawing/2014/main" id="{D269E34D-25E3-F23F-6BD1-BCCA1077C4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43438" y="3535807"/>
            <a:ext cx="4257675" cy="1392174"/>
          </a:xfrm>
          <a:ln w="31750">
            <a:solidFill>
              <a:schemeClr val="accent1"/>
            </a:solidFill>
          </a:ln>
        </p:spPr>
        <p:txBody>
          <a:bodyPr rtlCol="0">
            <a:normAutofit/>
          </a:bodyPr>
          <a:lstStyle/>
          <a:p>
            <a:pPr marL="85725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s-VE" sz="1800" b="1"/>
              <a:t>Interesados Clave</a:t>
            </a:r>
          </a:p>
          <a:p>
            <a:pPr marL="361950" indent="-276225" fontAlgn="auto">
              <a:spcAft>
                <a:spcPts val="0"/>
              </a:spcAft>
              <a:defRPr/>
            </a:pPr>
            <a:r>
              <a:rPr lang="es-VE" sz="1400" dirty="0"/>
              <a:t>[Dr. Jorge Bautista López], [Coordinador de I.C.O.].</a:t>
            </a:r>
            <a:endParaRPr lang="es-VE" sz="1400" dirty="0">
              <a:ea typeface="Calibri"/>
              <a:cs typeface="Calibri"/>
            </a:endParaRPr>
          </a:p>
          <a:p>
            <a:pPr marL="361950" indent="-276225" fontAlgn="auto">
              <a:spcAft>
                <a:spcPts val="0"/>
              </a:spcAft>
              <a:defRPr/>
            </a:pPr>
            <a:r>
              <a:rPr lang="es-VE" sz="1400" dirty="0"/>
              <a:t>[Alumnos de primer semestre].</a:t>
            </a:r>
            <a:endParaRPr lang="es-VE" sz="1400" dirty="0">
              <a:ea typeface="Calibri"/>
              <a:cs typeface="Calibri"/>
            </a:endParaRPr>
          </a:p>
          <a:p>
            <a:pPr marL="361950" indent="-276225" fontAlgn="auto">
              <a:spcAft>
                <a:spcPts val="0"/>
              </a:spcAft>
              <a:defRPr/>
            </a:pPr>
            <a:r>
              <a:rPr lang="es-VE" sz="1400" dirty="0"/>
              <a:t>[</a:t>
            </a:r>
            <a:r>
              <a:rPr lang="es-MX" sz="1400" dirty="0"/>
              <a:t>Asesores estudiantiles (alumnos de semestres avanzados)</a:t>
            </a:r>
            <a:r>
              <a:rPr lang="es-VE" sz="1400" dirty="0"/>
              <a:t>].</a:t>
            </a:r>
            <a:endParaRPr lang="es-VE" sz="1400" dirty="0">
              <a:ea typeface="Calibri"/>
              <a:cs typeface="Calibri"/>
            </a:endParaRPr>
          </a:p>
        </p:txBody>
      </p:sp>
      <p:sp>
        <p:nvSpPr>
          <p:cNvPr id="18" name="1 Título">
            <a:extLst>
              <a:ext uri="{FF2B5EF4-FFF2-40B4-BE49-F238E27FC236}">
                <a16:creationId xmlns:a16="http://schemas.microsoft.com/office/drawing/2014/main" id="{FBA53AD4-E182-8332-D838-A0583DF93AD0}"/>
              </a:ext>
            </a:extLst>
          </p:cNvPr>
          <p:cNvSpPr txBox="1">
            <a:spLocks/>
          </p:cNvSpPr>
          <p:nvPr/>
        </p:nvSpPr>
        <p:spPr>
          <a:xfrm>
            <a:off x="685800" y="1214438"/>
            <a:ext cx="7772400" cy="357187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s-VE" sz="2000" b="1">
                <a:latin typeface="+mj-lt"/>
                <a:ea typeface="+mj-ea"/>
                <a:cs typeface="+mj-cs"/>
              </a:rPr>
              <a:t>[</a:t>
            </a:r>
            <a:r>
              <a:rPr lang="es-MX" sz="2000" b="1">
                <a:latin typeface="+mj-lt"/>
                <a:ea typeface="+mj-ea"/>
                <a:cs typeface="+mj-cs"/>
              </a:rPr>
              <a:t>desconocimiento de baja de materias en alumnos de primer semestre</a:t>
            </a:r>
            <a:r>
              <a:rPr lang="es-VE" sz="2000" b="1">
                <a:latin typeface="+mj-lt"/>
                <a:ea typeface="+mj-ea"/>
                <a:cs typeface="+mj-cs"/>
              </a:rPr>
              <a:t>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DAF24F397C834BAF93B205844A7A8A" ma:contentTypeVersion="15" ma:contentTypeDescription="Create a new document." ma:contentTypeScope="" ma:versionID="32a1e677d5f6ab0ec9623a2ff78c7c07">
  <xsd:schema xmlns:xsd="http://www.w3.org/2001/XMLSchema" xmlns:xs="http://www.w3.org/2001/XMLSchema" xmlns:p="http://schemas.microsoft.com/office/2006/metadata/properties" xmlns:ns3="522f4af6-a4b8-46e0-8f80-8637c8d0c77b" xmlns:ns4="e39a2a60-e431-42f7-9e7c-399f46d82253" targetNamespace="http://schemas.microsoft.com/office/2006/metadata/properties" ma:root="true" ma:fieldsID="2fabf2136f80c94adeaae131882d1c5d" ns3:_="" ns4:_="">
    <xsd:import namespace="522f4af6-a4b8-46e0-8f80-8637c8d0c77b"/>
    <xsd:import namespace="e39a2a60-e431-42f7-9e7c-399f46d8225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SearchProperties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2f4af6-a4b8-46e0-8f80-8637c8d0c7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9a2a60-e431-42f7-9e7c-399f46d8225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22f4af6-a4b8-46e0-8f80-8637c8d0c77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13FEDE-200B-4566-84DB-6CB318E46CB2}">
  <ds:schemaRefs>
    <ds:schemaRef ds:uri="522f4af6-a4b8-46e0-8f80-8637c8d0c77b"/>
    <ds:schemaRef ds:uri="e39a2a60-e431-42f7-9e7c-399f46d8225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1B11F84-C645-49F3-A733-3BE5957E6DB4}">
  <ds:schemaRefs>
    <ds:schemaRef ds:uri="http://www.w3.org/XML/1998/namespace"/>
    <ds:schemaRef ds:uri="http://schemas.microsoft.com/office/2006/metadata/properties"/>
    <ds:schemaRef ds:uri="http://purl.org/dc/elements/1.1/"/>
    <ds:schemaRef ds:uri="e39a2a60-e431-42f7-9e7c-399f46d82253"/>
    <ds:schemaRef ds:uri="http://schemas.microsoft.com/office/infopath/2007/PartnerControls"/>
    <ds:schemaRef ds:uri="http://purl.org/dc/terms/"/>
    <ds:schemaRef ds:uri="522f4af6-a4b8-46e0-8f80-8637c8d0c77b"/>
    <ds:schemaRef ds:uri="http://schemas.openxmlformats.org/package/2006/metadata/core-properties"/>
    <ds:schemaRef ds:uri="http://schemas.microsoft.com/office/2006/documentManagement/typ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7A7E49D-847E-494A-9B71-7E7A54E3E57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</Words>
  <Application>Microsoft Office PowerPoint</Application>
  <PresentationFormat>Presentación en pantalla (4:3)</PresentationFormat>
  <Paragraphs>29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Calibri</vt:lpstr>
      <vt:lpstr>Tema de Office</vt:lpstr>
      <vt:lpstr>Acta de Proyecto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admin</dc:creator>
  <cp:lastModifiedBy>ZATDIEL YAEL ROMO RIVERO</cp:lastModifiedBy>
  <cp:revision>1</cp:revision>
  <dcterms:created xsi:type="dcterms:W3CDTF">2013-07-13T16:52:20Z</dcterms:created>
  <dcterms:modified xsi:type="dcterms:W3CDTF">2025-09-24T00:40:36Z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0x01010059DAF24F397C834BAF93B205844A7A8A</vt:lpwstr>
  </property>
</Properties>
</file>