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6" r:id="rId5"/>
    <p:sldId id="258" r:id="rId6"/>
    <p:sldId id="259" r:id="rId7"/>
    <p:sldId id="260" r:id="rId8"/>
    <p:sldId id="266" r:id="rId9"/>
    <p:sldId id="261" r:id="rId10"/>
    <p:sldId id="262" r:id="rId11"/>
    <p:sldId id="263" r:id="rId12"/>
    <p:sldId id="267" r:id="rId13"/>
    <p:sldId id="264" r:id="rId14"/>
    <p:sldId id="265" r:id="rId15"/>
  </p:sldIdLst>
  <p:sldSz cx="9144000" cy="6858000" type="screen4x3"/>
  <p:notesSz cx="6858000" cy="9144000"/>
  <p:defaultTextStyle>
    <a:defPPr>
      <a:defRPr lang="es-VE"/>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2E1DC-ED7F-49EB-9E0D-34E33C34C859}" v="162" dt="2025-10-03T04:29:46.675"/>
    <p1510:client id="{1BE5E216-A6E3-4EE8-811A-F2AD6EC208B0}" v="630" dt="2025-10-03T04:29:20.923"/>
    <p1510:client id="{259186CE-92A3-8330-09E0-D762ECD7D67E}" v="890" dt="2025-10-03T04:41:00.920"/>
    <p1510:client id="{B74899C2-9D78-4D0E-9ED8-203EF2BBBD07}" v="207" dt="2025-10-03T04:20:02.75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56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1 Marcador de encabezado">
            <a:extLst>
              <a:ext uri="{FF2B5EF4-FFF2-40B4-BE49-F238E27FC236}">
                <a16:creationId xmlns:a16="http://schemas.microsoft.com/office/drawing/2014/main" id="{59114644-46A5-0FDA-9DA0-2EF434D1A046}"/>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dirty="0">
                <a:latin typeface="Arial" charset="0"/>
                <a:cs typeface="Arial" charset="0"/>
              </a:defRPr>
            </a:lvl1pPr>
          </a:lstStyle>
          <a:p>
            <a:pPr>
              <a:defRPr/>
            </a:pPr>
            <a:endParaRPr lang="es-VE"/>
          </a:p>
        </p:txBody>
      </p:sp>
      <p:sp>
        <p:nvSpPr>
          <p:cNvPr id="3" name="2 Marcador de fecha">
            <a:extLst>
              <a:ext uri="{FF2B5EF4-FFF2-40B4-BE49-F238E27FC236}">
                <a16:creationId xmlns:a16="http://schemas.microsoft.com/office/drawing/2014/main" id="{ABE13C05-512D-8F28-015C-C5CABCD93F8D}"/>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F60113D2-31BB-4342-8B94-8B905326627B}" type="datetimeFigureOut">
              <a:rPr lang="es-VE"/>
              <a:pPr>
                <a:defRPr/>
              </a:pPr>
              <a:t>3/10/2025</a:t>
            </a:fld>
            <a:endParaRPr lang="es-VE"/>
          </a:p>
        </p:txBody>
      </p:sp>
      <p:sp>
        <p:nvSpPr>
          <p:cNvPr id="4" name="3 Marcador de imagen de diapositiva">
            <a:extLst>
              <a:ext uri="{FF2B5EF4-FFF2-40B4-BE49-F238E27FC236}">
                <a16:creationId xmlns:a16="http://schemas.microsoft.com/office/drawing/2014/main" id="{9DE1F1ED-7AAB-1B33-2192-720F6DEEBA1D}"/>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a:extLst>
              <a:ext uri="{FF2B5EF4-FFF2-40B4-BE49-F238E27FC236}">
                <a16:creationId xmlns:a16="http://schemas.microsoft.com/office/drawing/2014/main" id="{8C0D43F3-1E64-A0BB-673F-B95D8EE3A63C}"/>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a:extLst>
              <a:ext uri="{FF2B5EF4-FFF2-40B4-BE49-F238E27FC236}">
                <a16:creationId xmlns:a16="http://schemas.microsoft.com/office/drawing/2014/main" id="{8CAAB473-9EA5-AB43-2F86-DCA45A7A9A41}"/>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dirty="0">
                <a:latin typeface="Arial" charset="0"/>
                <a:cs typeface="Arial" charset="0"/>
              </a:defRPr>
            </a:lvl1pPr>
          </a:lstStyle>
          <a:p>
            <a:pPr>
              <a:defRPr/>
            </a:pPr>
            <a:endParaRPr lang="es-VE"/>
          </a:p>
        </p:txBody>
      </p:sp>
      <p:sp>
        <p:nvSpPr>
          <p:cNvPr id="7" name="6 Marcador de número de diapositiva">
            <a:extLst>
              <a:ext uri="{FF2B5EF4-FFF2-40B4-BE49-F238E27FC236}">
                <a16:creationId xmlns:a16="http://schemas.microsoft.com/office/drawing/2014/main" id="{5506AE64-FC2D-2918-9C76-289A579F488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D86A655-D785-42E8-8764-66463ADC5588}" type="slidenum">
              <a:rPr lang="es-VE" altLang="es-419"/>
              <a:pPr/>
              <a:t>‹Nº›</a:t>
            </a:fld>
            <a:endParaRPr lang="es-VE" altLang="es-419"/>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379975F6-4046-678B-3EA1-5D6663E5D228}"/>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p>
            <a:pPr fontAlgn="auto">
              <a:spcBef>
                <a:spcPts val="0"/>
              </a:spcBef>
              <a:spcAft>
                <a:spcPts val="0"/>
              </a:spcAft>
              <a:defRPr/>
            </a:pPr>
            <a:endParaRPr lang="es-VE">
              <a:latin typeface="+mn-lt"/>
              <a:cs typeface="+mn-cs"/>
            </a:endParaRPr>
          </a:p>
        </p:txBody>
      </p:sp>
      <p:sp>
        <p:nvSpPr>
          <p:cNvPr id="5" name="Rectangle 3">
            <a:extLst>
              <a:ext uri="{FF2B5EF4-FFF2-40B4-BE49-F238E27FC236}">
                <a16:creationId xmlns:a16="http://schemas.microsoft.com/office/drawing/2014/main" id="{188243B0-6325-8C4D-47B1-88446438E25D}"/>
              </a:ext>
            </a:extLst>
          </p:cNvPr>
          <p:cNvSpPr>
            <a:spLocks noChangeArrowheads="1"/>
          </p:cNvSpPr>
          <p:nvPr userDrawn="1"/>
        </p:nvSpPr>
        <p:spPr bwMode="auto">
          <a:xfrm>
            <a:off x="142875" y="549275"/>
            <a:ext cx="3571875" cy="307975"/>
          </a:xfrm>
          <a:prstGeom prst="rect">
            <a:avLst/>
          </a:prstGeom>
          <a:noFill/>
          <a:ln w="9525">
            <a:noFill/>
            <a:miter lim="800000"/>
            <a:headEnd/>
            <a:tailEnd/>
          </a:ln>
          <a:effectLst/>
        </p:spPr>
        <p:txBody>
          <a:bodyPr anchor="ctr">
            <a:spAutoFit/>
          </a:bodyPr>
          <a:lstStyle/>
          <a:p>
            <a:pPr>
              <a:tabLst>
                <a:tab pos="2806700" algn="ctr"/>
                <a:tab pos="5611813" algn="r"/>
              </a:tabLst>
              <a:defRPr/>
            </a:pPr>
            <a:r>
              <a:rPr lang="es-VE" sz="1400" b="1">
                <a:solidFill>
                  <a:srgbClr val="0D0D0D"/>
                </a:solidFill>
                <a:ea typeface="Calibri" pitchFamily="34" charset="0"/>
                <a:cs typeface="Times New Roman" pitchFamily="18" charset="0"/>
              </a:rPr>
              <a:t>La Oficina de Proyectos de Informática</a:t>
            </a:r>
            <a:endParaRPr lang="es-VE"/>
          </a:p>
        </p:txBody>
      </p:sp>
      <p:sp>
        <p:nvSpPr>
          <p:cNvPr id="6" name="Rectangle 5">
            <a:extLst>
              <a:ext uri="{FF2B5EF4-FFF2-40B4-BE49-F238E27FC236}">
                <a16:creationId xmlns:a16="http://schemas.microsoft.com/office/drawing/2014/main" id="{DCC51E10-E36C-3CFB-C4C5-EDCCCD8D7CE6}"/>
              </a:ext>
            </a:extLst>
          </p:cNvPr>
          <p:cNvSpPr>
            <a:spLocks noChangeArrowheads="1"/>
          </p:cNvSpPr>
          <p:nvPr userDrawn="1"/>
        </p:nvSpPr>
        <p:spPr bwMode="auto">
          <a:xfrm>
            <a:off x="0" y="0"/>
            <a:ext cx="9144000" cy="457200"/>
          </a:xfrm>
          <a:prstGeom prst="rect">
            <a:avLst/>
          </a:prstGeom>
          <a:noFill/>
          <a:ln w="9525">
            <a:noFill/>
            <a:miter lim="800000"/>
            <a:headEnd/>
            <a:tailEnd/>
          </a:ln>
          <a:effectLst/>
        </p:spPr>
        <p:txBody>
          <a:bodyPr wrap="none" anchor="ctr">
            <a:spAutoFit/>
          </a:bodyPr>
          <a:lstStyle/>
          <a:p>
            <a:pPr fontAlgn="auto">
              <a:spcBef>
                <a:spcPts val="0"/>
              </a:spcBef>
              <a:spcAft>
                <a:spcPts val="0"/>
              </a:spcAft>
              <a:defRPr/>
            </a:pPr>
            <a:endParaRPr lang="es-VE">
              <a:latin typeface="+mn-lt"/>
              <a:cs typeface="+mn-cs"/>
            </a:endParaRPr>
          </a:p>
        </p:txBody>
      </p:sp>
      <p:sp>
        <p:nvSpPr>
          <p:cNvPr id="7" name="Rectangle 6">
            <a:extLst>
              <a:ext uri="{FF2B5EF4-FFF2-40B4-BE49-F238E27FC236}">
                <a16:creationId xmlns:a16="http://schemas.microsoft.com/office/drawing/2014/main" id="{E6E113E1-BB7C-F37D-0153-4C35FC5FD119}"/>
              </a:ext>
            </a:extLst>
          </p:cNvPr>
          <p:cNvSpPr>
            <a:spLocks noChangeArrowheads="1"/>
          </p:cNvSpPr>
          <p:nvPr userDrawn="1"/>
        </p:nvSpPr>
        <p:spPr bwMode="auto">
          <a:xfrm>
            <a:off x="6572250" y="581025"/>
            <a:ext cx="2428875" cy="276225"/>
          </a:xfrm>
          <a:prstGeom prst="rect">
            <a:avLst/>
          </a:prstGeom>
          <a:noFill/>
          <a:ln w="9525">
            <a:noFill/>
            <a:miter lim="800000"/>
            <a:headEnd/>
            <a:tailEnd/>
          </a:ln>
          <a:effectLst/>
        </p:spPr>
        <p:txBody>
          <a:bodyPr anchor="ctr">
            <a:spAutoFit/>
          </a:bodyPr>
          <a:lstStyle/>
          <a:p>
            <a:pPr algn="r">
              <a:tabLst>
                <a:tab pos="2806700" algn="ctr"/>
                <a:tab pos="5611813" algn="r"/>
              </a:tabLst>
              <a:defRPr/>
            </a:pPr>
            <a:r>
              <a:rPr lang="es-VE" sz="1200" b="1" i="1">
                <a:solidFill>
                  <a:srgbClr val="365F91"/>
                </a:solidFill>
                <a:ea typeface="Calibri" pitchFamily="34" charset="0"/>
                <a:cs typeface="Times New Roman" pitchFamily="18" charset="0"/>
              </a:rPr>
              <a:t>www.pmoinformatica.com</a:t>
            </a:r>
            <a:endParaRPr lang="es-VE"/>
          </a:p>
        </p:txBody>
      </p:sp>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VE"/>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VE"/>
          </a:p>
        </p:txBody>
      </p:sp>
      <p:sp>
        <p:nvSpPr>
          <p:cNvPr id="8" name="3 Marcador de fecha">
            <a:extLst>
              <a:ext uri="{FF2B5EF4-FFF2-40B4-BE49-F238E27FC236}">
                <a16:creationId xmlns:a16="http://schemas.microsoft.com/office/drawing/2014/main" id="{621035E8-FDA4-43F9-9933-D159EBCEFC86}"/>
              </a:ext>
            </a:extLst>
          </p:cNvPr>
          <p:cNvSpPr>
            <a:spLocks noGrp="1"/>
          </p:cNvSpPr>
          <p:nvPr>
            <p:ph type="dt" sz="half" idx="10"/>
          </p:nvPr>
        </p:nvSpPr>
        <p:spPr/>
        <p:txBody>
          <a:bodyPr/>
          <a:lstStyle>
            <a:lvl1pPr>
              <a:defRPr/>
            </a:lvl1pPr>
          </a:lstStyle>
          <a:p>
            <a:pPr>
              <a:defRPr/>
            </a:pPr>
            <a:fld id="{80B12D15-23A2-40C0-9EAC-597B618ACF17}" type="datetime1">
              <a:rPr lang="es-VE"/>
              <a:pPr>
                <a:defRPr/>
              </a:pPr>
              <a:t>3/10/2025</a:t>
            </a:fld>
            <a:endParaRPr lang="es-VE"/>
          </a:p>
        </p:txBody>
      </p:sp>
      <p:sp>
        <p:nvSpPr>
          <p:cNvPr id="9" name="4 Marcador de pie de página">
            <a:extLst>
              <a:ext uri="{FF2B5EF4-FFF2-40B4-BE49-F238E27FC236}">
                <a16:creationId xmlns:a16="http://schemas.microsoft.com/office/drawing/2014/main" id="{2A75CC53-56C9-ED73-0721-E9924D17AF6D}"/>
              </a:ext>
            </a:extLst>
          </p:cNvPr>
          <p:cNvSpPr>
            <a:spLocks noGrp="1"/>
          </p:cNvSpPr>
          <p:nvPr>
            <p:ph type="ftr" sz="quarter" idx="11"/>
          </p:nvPr>
        </p:nvSpPr>
        <p:spPr/>
        <p:txBody>
          <a:bodyPr/>
          <a:lstStyle>
            <a:lvl1pPr>
              <a:defRPr dirty="0"/>
            </a:lvl1pPr>
          </a:lstStyle>
          <a:p>
            <a:pPr>
              <a:defRPr/>
            </a:pPr>
            <a:endParaRPr lang="es-VE"/>
          </a:p>
        </p:txBody>
      </p:sp>
      <p:sp>
        <p:nvSpPr>
          <p:cNvPr id="10" name="5 Marcador de número de diapositiva">
            <a:extLst>
              <a:ext uri="{FF2B5EF4-FFF2-40B4-BE49-F238E27FC236}">
                <a16:creationId xmlns:a16="http://schemas.microsoft.com/office/drawing/2014/main" id="{25238568-D97B-C2D4-140A-5E75CC4A57D9}"/>
              </a:ext>
            </a:extLst>
          </p:cNvPr>
          <p:cNvSpPr>
            <a:spLocks noGrp="1"/>
          </p:cNvSpPr>
          <p:nvPr>
            <p:ph type="sldNum" sz="quarter" idx="12"/>
          </p:nvPr>
        </p:nvSpPr>
        <p:spPr/>
        <p:txBody>
          <a:bodyPr/>
          <a:lstStyle>
            <a:lvl1pPr>
              <a:defRPr/>
            </a:lvl1pPr>
          </a:lstStyle>
          <a:p>
            <a:fld id="{EB6B924E-6D14-4483-99D0-BB4B6CD8DE96}" type="slidenum">
              <a:rPr lang="es-VE" altLang="es-419"/>
              <a:pPr/>
              <a:t>‹Nº›</a:t>
            </a:fld>
            <a:endParaRPr lang="es-VE" altLang="es-419"/>
          </a:p>
        </p:txBody>
      </p:sp>
    </p:spTree>
    <p:extLst>
      <p:ext uri="{BB962C8B-B14F-4D97-AF65-F5344CB8AC3E}">
        <p14:creationId xmlns:p14="http://schemas.microsoft.com/office/powerpoint/2010/main" val="3940925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5AAB69A-6915-C73A-8574-0F17D8B5BE79}"/>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p>
            <a:pPr fontAlgn="auto">
              <a:spcBef>
                <a:spcPts val="0"/>
              </a:spcBef>
              <a:spcAft>
                <a:spcPts val="0"/>
              </a:spcAft>
              <a:defRPr/>
            </a:pPr>
            <a:endParaRPr lang="es-VE">
              <a:latin typeface="+mn-lt"/>
              <a:cs typeface="+mn-cs"/>
            </a:endParaRPr>
          </a:p>
        </p:txBody>
      </p:sp>
      <p:sp>
        <p:nvSpPr>
          <p:cNvPr id="5" name="Rectangle 3">
            <a:extLst>
              <a:ext uri="{FF2B5EF4-FFF2-40B4-BE49-F238E27FC236}">
                <a16:creationId xmlns:a16="http://schemas.microsoft.com/office/drawing/2014/main" id="{A2242D67-C03C-37AC-DE3A-6A12D549EA16}"/>
              </a:ext>
            </a:extLst>
          </p:cNvPr>
          <p:cNvSpPr>
            <a:spLocks noChangeArrowheads="1"/>
          </p:cNvSpPr>
          <p:nvPr userDrawn="1"/>
        </p:nvSpPr>
        <p:spPr bwMode="auto">
          <a:xfrm>
            <a:off x="142875" y="549275"/>
            <a:ext cx="3571875" cy="307975"/>
          </a:xfrm>
          <a:prstGeom prst="rect">
            <a:avLst/>
          </a:prstGeom>
          <a:noFill/>
          <a:ln w="9525">
            <a:noFill/>
            <a:miter lim="800000"/>
            <a:headEnd/>
            <a:tailEnd/>
          </a:ln>
          <a:effectLst/>
        </p:spPr>
        <p:txBody>
          <a:bodyPr anchor="ctr">
            <a:spAutoFit/>
          </a:bodyPr>
          <a:lstStyle/>
          <a:p>
            <a:pPr>
              <a:tabLst>
                <a:tab pos="2806700" algn="ctr"/>
                <a:tab pos="5611813" algn="r"/>
              </a:tabLst>
              <a:defRPr/>
            </a:pPr>
            <a:r>
              <a:rPr lang="es-VE" sz="1400" b="1">
                <a:solidFill>
                  <a:srgbClr val="0D0D0D"/>
                </a:solidFill>
                <a:ea typeface="Calibri" pitchFamily="34" charset="0"/>
                <a:cs typeface="Times New Roman" pitchFamily="18" charset="0"/>
              </a:rPr>
              <a:t>La Oficina de Proyectos de Informática</a:t>
            </a:r>
            <a:endParaRPr lang="es-VE"/>
          </a:p>
        </p:txBody>
      </p:sp>
      <p:sp>
        <p:nvSpPr>
          <p:cNvPr id="6" name="Rectangle 6">
            <a:extLst>
              <a:ext uri="{FF2B5EF4-FFF2-40B4-BE49-F238E27FC236}">
                <a16:creationId xmlns:a16="http://schemas.microsoft.com/office/drawing/2014/main" id="{A7E53538-9C3E-FA2D-DD6E-D5655FC029B6}"/>
              </a:ext>
            </a:extLst>
          </p:cNvPr>
          <p:cNvSpPr>
            <a:spLocks noChangeArrowheads="1"/>
          </p:cNvSpPr>
          <p:nvPr userDrawn="1"/>
        </p:nvSpPr>
        <p:spPr bwMode="auto">
          <a:xfrm>
            <a:off x="6572250" y="581025"/>
            <a:ext cx="2428875" cy="276225"/>
          </a:xfrm>
          <a:prstGeom prst="rect">
            <a:avLst/>
          </a:prstGeom>
          <a:noFill/>
          <a:ln w="9525">
            <a:noFill/>
            <a:miter lim="800000"/>
            <a:headEnd/>
            <a:tailEnd/>
          </a:ln>
          <a:effectLst/>
        </p:spPr>
        <p:txBody>
          <a:bodyPr anchor="ctr">
            <a:spAutoFit/>
          </a:bodyPr>
          <a:lstStyle/>
          <a:p>
            <a:pPr algn="r">
              <a:tabLst>
                <a:tab pos="2806700" algn="ctr"/>
                <a:tab pos="5611813" algn="r"/>
              </a:tabLst>
              <a:defRPr/>
            </a:pPr>
            <a:r>
              <a:rPr lang="es-VE" sz="1200" b="1" i="1">
                <a:solidFill>
                  <a:srgbClr val="365F91"/>
                </a:solidFill>
                <a:ea typeface="Calibri" pitchFamily="34" charset="0"/>
                <a:cs typeface="Times New Roman" pitchFamily="18" charset="0"/>
              </a:rPr>
              <a:t>www.pmoinformatica.com</a:t>
            </a:r>
            <a:endParaRPr lang="es-VE"/>
          </a:p>
        </p:txBody>
      </p:sp>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7" name="3 Marcador de fecha">
            <a:extLst>
              <a:ext uri="{FF2B5EF4-FFF2-40B4-BE49-F238E27FC236}">
                <a16:creationId xmlns:a16="http://schemas.microsoft.com/office/drawing/2014/main" id="{8E772332-9B32-FF66-ED46-43790C4AFC10}"/>
              </a:ext>
            </a:extLst>
          </p:cNvPr>
          <p:cNvSpPr>
            <a:spLocks noGrp="1"/>
          </p:cNvSpPr>
          <p:nvPr>
            <p:ph type="dt" sz="half" idx="10"/>
          </p:nvPr>
        </p:nvSpPr>
        <p:spPr/>
        <p:txBody>
          <a:bodyPr/>
          <a:lstStyle>
            <a:lvl1pPr>
              <a:defRPr/>
            </a:lvl1pPr>
          </a:lstStyle>
          <a:p>
            <a:pPr>
              <a:defRPr/>
            </a:pPr>
            <a:fld id="{A7971A8B-9F9A-4655-AB60-88B8478421F6}" type="datetime1">
              <a:rPr lang="es-VE"/>
              <a:pPr>
                <a:defRPr/>
              </a:pPr>
              <a:t>3/10/2025</a:t>
            </a:fld>
            <a:endParaRPr lang="es-VE"/>
          </a:p>
        </p:txBody>
      </p:sp>
      <p:sp>
        <p:nvSpPr>
          <p:cNvPr id="8" name="4 Marcador de pie de página">
            <a:extLst>
              <a:ext uri="{FF2B5EF4-FFF2-40B4-BE49-F238E27FC236}">
                <a16:creationId xmlns:a16="http://schemas.microsoft.com/office/drawing/2014/main" id="{3E63E6A3-2992-2BE5-ED7C-2DDB109E2E98}"/>
              </a:ext>
            </a:extLst>
          </p:cNvPr>
          <p:cNvSpPr>
            <a:spLocks noGrp="1"/>
          </p:cNvSpPr>
          <p:nvPr>
            <p:ph type="ftr" sz="quarter" idx="11"/>
          </p:nvPr>
        </p:nvSpPr>
        <p:spPr/>
        <p:txBody>
          <a:bodyPr/>
          <a:lstStyle>
            <a:lvl1pPr>
              <a:defRPr dirty="0"/>
            </a:lvl1pPr>
          </a:lstStyle>
          <a:p>
            <a:pPr>
              <a:defRPr/>
            </a:pPr>
            <a:endParaRPr lang="es-VE"/>
          </a:p>
        </p:txBody>
      </p:sp>
    </p:spTree>
    <p:extLst>
      <p:ext uri="{BB962C8B-B14F-4D97-AF65-F5344CB8AC3E}">
        <p14:creationId xmlns:p14="http://schemas.microsoft.com/office/powerpoint/2010/main" val="74829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V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a:extLst>
              <a:ext uri="{FF2B5EF4-FFF2-40B4-BE49-F238E27FC236}">
                <a16:creationId xmlns:a16="http://schemas.microsoft.com/office/drawing/2014/main" id="{3AD94D74-F3B6-1F99-5095-C16900E9E73D}"/>
              </a:ext>
            </a:extLst>
          </p:cNvPr>
          <p:cNvSpPr>
            <a:spLocks noGrp="1"/>
          </p:cNvSpPr>
          <p:nvPr>
            <p:ph type="dt" sz="half" idx="10"/>
          </p:nvPr>
        </p:nvSpPr>
        <p:spPr/>
        <p:txBody>
          <a:bodyPr/>
          <a:lstStyle>
            <a:lvl1pPr>
              <a:defRPr/>
            </a:lvl1pPr>
          </a:lstStyle>
          <a:p>
            <a:pPr>
              <a:defRPr/>
            </a:pPr>
            <a:fld id="{65F900B5-CADD-46CE-83BE-202C7B21F53F}" type="datetime1">
              <a:rPr lang="es-VE"/>
              <a:pPr>
                <a:defRPr/>
              </a:pPr>
              <a:t>3/10/2025</a:t>
            </a:fld>
            <a:endParaRPr lang="es-VE"/>
          </a:p>
        </p:txBody>
      </p:sp>
      <p:sp>
        <p:nvSpPr>
          <p:cNvPr id="5" name="4 Marcador de pie de página">
            <a:extLst>
              <a:ext uri="{FF2B5EF4-FFF2-40B4-BE49-F238E27FC236}">
                <a16:creationId xmlns:a16="http://schemas.microsoft.com/office/drawing/2014/main" id="{E01DDE6C-C7B5-0EC3-A7E8-B53A16764C4B}"/>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02682D2C-A0DF-0663-DB6C-161874B1826A}"/>
              </a:ext>
            </a:extLst>
          </p:cNvPr>
          <p:cNvSpPr>
            <a:spLocks noGrp="1"/>
          </p:cNvSpPr>
          <p:nvPr>
            <p:ph type="sldNum" sz="quarter" idx="12"/>
          </p:nvPr>
        </p:nvSpPr>
        <p:spPr/>
        <p:txBody>
          <a:bodyPr/>
          <a:lstStyle>
            <a:lvl1pPr>
              <a:defRPr/>
            </a:lvl1pPr>
          </a:lstStyle>
          <a:p>
            <a:fld id="{0A444BDD-2C13-4C58-BD8A-531B634C3D01}" type="slidenum">
              <a:rPr lang="es-VE" altLang="es-419"/>
              <a:pPr/>
              <a:t>‹Nº›</a:t>
            </a:fld>
            <a:endParaRPr lang="es-VE" altLang="es-419"/>
          </a:p>
        </p:txBody>
      </p:sp>
    </p:spTree>
    <p:extLst>
      <p:ext uri="{BB962C8B-B14F-4D97-AF65-F5344CB8AC3E}">
        <p14:creationId xmlns:p14="http://schemas.microsoft.com/office/powerpoint/2010/main" val="4679635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F8CAC17F-FFD1-691D-5AF3-22CA7DA6DE4F}"/>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p>
            <a:pPr fontAlgn="auto">
              <a:spcBef>
                <a:spcPts val="0"/>
              </a:spcBef>
              <a:spcAft>
                <a:spcPts val="0"/>
              </a:spcAft>
              <a:defRPr/>
            </a:pPr>
            <a:endParaRPr lang="es-VE">
              <a:latin typeface="+mn-lt"/>
              <a:cs typeface="+mn-cs"/>
            </a:endParaRPr>
          </a:p>
        </p:txBody>
      </p:sp>
      <p:sp>
        <p:nvSpPr>
          <p:cNvPr id="6" name="Rectangle 3">
            <a:extLst>
              <a:ext uri="{FF2B5EF4-FFF2-40B4-BE49-F238E27FC236}">
                <a16:creationId xmlns:a16="http://schemas.microsoft.com/office/drawing/2014/main" id="{511649E4-97EB-307B-48C4-ACA20BF4C951}"/>
              </a:ext>
            </a:extLst>
          </p:cNvPr>
          <p:cNvSpPr>
            <a:spLocks noChangeArrowheads="1"/>
          </p:cNvSpPr>
          <p:nvPr userDrawn="1"/>
        </p:nvSpPr>
        <p:spPr bwMode="auto">
          <a:xfrm>
            <a:off x="142875" y="549275"/>
            <a:ext cx="3571875" cy="307975"/>
          </a:xfrm>
          <a:prstGeom prst="rect">
            <a:avLst/>
          </a:prstGeom>
          <a:noFill/>
          <a:ln w="9525">
            <a:noFill/>
            <a:miter lim="800000"/>
            <a:headEnd/>
            <a:tailEnd/>
          </a:ln>
          <a:effectLst/>
        </p:spPr>
        <p:txBody>
          <a:bodyPr anchor="ctr">
            <a:spAutoFit/>
          </a:bodyPr>
          <a:lstStyle/>
          <a:p>
            <a:pPr>
              <a:tabLst>
                <a:tab pos="2806700" algn="ctr"/>
                <a:tab pos="5611813" algn="r"/>
              </a:tabLst>
              <a:defRPr/>
            </a:pPr>
            <a:r>
              <a:rPr lang="es-VE" sz="1400" b="1">
                <a:solidFill>
                  <a:srgbClr val="0D0D0D"/>
                </a:solidFill>
                <a:ea typeface="Calibri" pitchFamily="34" charset="0"/>
                <a:cs typeface="Times New Roman" pitchFamily="18" charset="0"/>
              </a:rPr>
              <a:t>La Oficina de Proyectos de Informática</a:t>
            </a:r>
            <a:endParaRPr lang="es-VE"/>
          </a:p>
        </p:txBody>
      </p:sp>
      <p:sp>
        <p:nvSpPr>
          <p:cNvPr id="7" name="Rectangle 6">
            <a:extLst>
              <a:ext uri="{FF2B5EF4-FFF2-40B4-BE49-F238E27FC236}">
                <a16:creationId xmlns:a16="http://schemas.microsoft.com/office/drawing/2014/main" id="{5EC58451-B767-C42C-9074-70E5C06CD102}"/>
              </a:ext>
            </a:extLst>
          </p:cNvPr>
          <p:cNvSpPr>
            <a:spLocks noChangeArrowheads="1"/>
          </p:cNvSpPr>
          <p:nvPr userDrawn="1"/>
        </p:nvSpPr>
        <p:spPr bwMode="auto">
          <a:xfrm>
            <a:off x="6572250" y="581025"/>
            <a:ext cx="2428875" cy="276225"/>
          </a:xfrm>
          <a:prstGeom prst="rect">
            <a:avLst/>
          </a:prstGeom>
          <a:noFill/>
          <a:ln w="9525">
            <a:noFill/>
            <a:miter lim="800000"/>
            <a:headEnd/>
            <a:tailEnd/>
          </a:ln>
          <a:effectLst/>
        </p:spPr>
        <p:txBody>
          <a:bodyPr anchor="ctr">
            <a:spAutoFit/>
          </a:bodyPr>
          <a:lstStyle/>
          <a:p>
            <a:pPr algn="r">
              <a:tabLst>
                <a:tab pos="2806700" algn="ctr"/>
                <a:tab pos="5611813" algn="r"/>
              </a:tabLst>
              <a:defRPr/>
            </a:pPr>
            <a:r>
              <a:rPr lang="es-VE" sz="1200" b="1" i="1">
                <a:solidFill>
                  <a:srgbClr val="365F91"/>
                </a:solidFill>
                <a:ea typeface="Calibri" pitchFamily="34" charset="0"/>
                <a:cs typeface="Times New Roman" pitchFamily="18" charset="0"/>
              </a:rPr>
              <a:t>www.pmoinformatica.com</a:t>
            </a:r>
            <a:endParaRPr lang="es-VE"/>
          </a:p>
        </p:txBody>
      </p:sp>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8" name="4 Marcador de fecha">
            <a:extLst>
              <a:ext uri="{FF2B5EF4-FFF2-40B4-BE49-F238E27FC236}">
                <a16:creationId xmlns:a16="http://schemas.microsoft.com/office/drawing/2014/main" id="{6097A81E-2F5D-E2D4-34D5-B8B9293081AF}"/>
              </a:ext>
            </a:extLst>
          </p:cNvPr>
          <p:cNvSpPr>
            <a:spLocks noGrp="1"/>
          </p:cNvSpPr>
          <p:nvPr>
            <p:ph type="dt" sz="half" idx="10"/>
          </p:nvPr>
        </p:nvSpPr>
        <p:spPr/>
        <p:txBody>
          <a:bodyPr/>
          <a:lstStyle>
            <a:lvl1pPr>
              <a:defRPr/>
            </a:lvl1pPr>
          </a:lstStyle>
          <a:p>
            <a:pPr>
              <a:defRPr/>
            </a:pPr>
            <a:fld id="{D362A673-02AA-486C-857E-9D0962CB7F1A}" type="datetime1">
              <a:rPr lang="es-VE"/>
              <a:pPr>
                <a:defRPr/>
              </a:pPr>
              <a:t>3/10/2025</a:t>
            </a:fld>
            <a:endParaRPr lang="es-VE"/>
          </a:p>
        </p:txBody>
      </p:sp>
      <p:sp>
        <p:nvSpPr>
          <p:cNvPr id="9" name="5 Marcador de pie de página">
            <a:extLst>
              <a:ext uri="{FF2B5EF4-FFF2-40B4-BE49-F238E27FC236}">
                <a16:creationId xmlns:a16="http://schemas.microsoft.com/office/drawing/2014/main" id="{A31E75D5-F94C-431F-E672-E266BE1AA383}"/>
              </a:ext>
            </a:extLst>
          </p:cNvPr>
          <p:cNvSpPr>
            <a:spLocks noGrp="1"/>
          </p:cNvSpPr>
          <p:nvPr>
            <p:ph type="ftr" sz="quarter" idx="11"/>
          </p:nvPr>
        </p:nvSpPr>
        <p:spPr/>
        <p:txBody>
          <a:bodyPr/>
          <a:lstStyle>
            <a:lvl1pPr>
              <a:defRPr dirty="0"/>
            </a:lvl1pPr>
          </a:lstStyle>
          <a:p>
            <a:pPr>
              <a:defRPr/>
            </a:pPr>
            <a:endParaRPr lang="es-VE"/>
          </a:p>
        </p:txBody>
      </p:sp>
      <p:sp>
        <p:nvSpPr>
          <p:cNvPr id="10" name="6 Marcador de número de diapositiva">
            <a:extLst>
              <a:ext uri="{FF2B5EF4-FFF2-40B4-BE49-F238E27FC236}">
                <a16:creationId xmlns:a16="http://schemas.microsoft.com/office/drawing/2014/main" id="{EF4348B8-85F1-CEAD-44A1-D075ABC8EF8F}"/>
              </a:ext>
            </a:extLst>
          </p:cNvPr>
          <p:cNvSpPr>
            <a:spLocks noGrp="1"/>
          </p:cNvSpPr>
          <p:nvPr>
            <p:ph type="sldNum" sz="quarter" idx="12"/>
          </p:nvPr>
        </p:nvSpPr>
        <p:spPr/>
        <p:txBody>
          <a:bodyPr/>
          <a:lstStyle>
            <a:lvl1pPr>
              <a:defRPr/>
            </a:lvl1pPr>
          </a:lstStyle>
          <a:p>
            <a:fld id="{2633D560-A5BA-4B13-B0B0-13CDC846F146}" type="slidenum">
              <a:rPr lang="es-VE" altLang="es-419"/>
              <a:pPr/>
              <a:t>‹Nº›</a:t>
            </a:fld>
            <a:endParaRPr lang="es-VE" altLang="es-419"/>
          </a:p>
        </p:txBody>
      </p:sp>
    </p:spTree>
    <p:extLst>
      <p:ext uri="{BB962C8B-B14F-4D97-AF65-F5344CB8AC3E}">
        <p14:creationId xmlns:p14="http://schemas.microsoft.com/office/powerpoint/2010/main" val="2342491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E019B3C0-F83B-28E2-7B5E-86FC4923ECBB}"/>
              </a:ext>
            </a:extLst>
          </p:cNvPr>
          <p:cNvSpPr>
            <a:spLocks noChangeArrowheads="1"/>
          </p:cNvSpPr>
          <p:nvPr userDrawn="1"/>
        </p:nvSpPr>
        <p:spPr bwMode="auto">
          <a:xfrm>
            <a:off x="214313" y="857250"/>
            <a:ext cx="8715375" cy="214313"/>
          </a:xfrm>
          <a:prstGeom prst="rect">
            <a:avLst/>
          </a:prstGeom>
          <a:solidFill>
            <a:srgbClr val="4F81BD"/>
          </a:solidFill>
          <a:ln w="38100">
            <a:solidFill>
              <a:srgbClr val="F2F2F2"/>
            </a:solidFill>
            <a:miter lim="800000"/>
            <a:headEnd/>
            <a:tailEnd/>
          </a:ln>
          <a:effectLst>
            <a:outerShdw dist="28398" dir="3806097" algn="ctr" rotWithShape="0">
              <a:srgbClr val="243F60">
                <a:alpha val="50000"/>
              </a:srgbClr>
            </a:outerShdw>
          </a:effectLst>
        </p:spPr>
        <p:txBody>
          <a:bodyPr/>
          <a:lstStyle/>
          <a:p>
            <a:pPr fontAlgn="auto">
              <a:spcBef>
                <a:spcPts val="0"/>
              </a:spcBef>
              <a:spcAft>
                <a:spcPts val="0"/>
              </a:spcAft>
              <a:defRPr/>
            </a:pPr>
            <a:endParaRPr lang="es-VE">
              <a:latin typeface="+mn-lt"/>
              <a:cs typeface="+mn-cs"/>
            </a:endParaRPr>
          </a:p>
        </p:txBody>
      </p:sp>
      <p:sp>
        <p:nvSpPr>
          <p:cNvPr id="8" name="Rectangle 3">
            <a:extLst>
              <a:ext uri="{FF2B5EF4-FFF2-40B4-BE49-F238E27FC236}">
                <a16:creationId xmlns:a16="http://schemas.microsoft.com/office/drawing/2014/main" id="{97824FE8-F409-0741-74B9-E6EF59E404B7}"/>
              </a:ext>
            </a:extLst>
          </p:cNvPr>
          <p:cNvSpPr>
            <a:spLocks noChangeArrowheads="1"/>
          </p:cNvSpPr>
          <p:nvPr userDrawn="1"/>
        </p:nvSpPr>
        <p:spPr bwMode="auto">
          <a:xfrm>
            <a:off x="142875" y="549275"/>
            <a:ext cx="3571875" cy="307975"/>
          </a:xfrm>
          <a:prstGeom prst="rect">
            <a:avLst/>
          </a:prstGeom>
          <a:noFill/>
          <a:ln w="9525">
            <a:noFill/>
            <a:miter lim="800000"/>
            <a:headEnd/>
            <a:tailEnd/>
          </a:ln>
          <a:effectLst/>
        </p:spPr>
        <p:txBody>
          <a:bodyPr anchor="ctr">
            <a:spAutoFit/>
          </a:bodyPr>
          <a:lstStyle/>
          <a:p>
            <a:pPr>
              <a:tabLst>
                <a:tab pos="2806700" algn="ctr"/>
                <a:tab pos="5611813" algn="r"/>
              </a:tabLst>
              <a:defRPr/>
            </a:pPr>
            <a:r>
              <a:rPr lang="es-VE" sz="1400" b="1">
                <a:solidFill>
                  <a:srgbClr val="0D0D0D"/>
                </a:solidFill>
                <a:ea typeface="Calibri" pitchFamily="34" charset="0"/>
                <a:cs typeface="Times New Roman" pitchFamily="18" charset="0"/>
              </a:rPr>
              <a:t>La Oficina de Proyectos de Informática</a:t>
            </a:r>
            <a:endParaRPr lang="es-VE"/>
          </a:p>
        </p:txBody>
      </p:sp>
      <p:sp>
        <p:nvSpPr>
          <p:cNvPr id="9" name="Rectangle 6">
            <a:extLst>
              <a:ext uri="{FF2B5EF4-FFF2-40B4-BE49-F238E27FC236}">
                <a16:creationId xmlns:a16="http://schemas.microsoft.com/office/drawing/2014/main" id="{EF52AFBB-92D3-7CAB-91D6-ACD3BD405AAF}"/>
              </a:ext>
            </a:extLst>
          </p:cNvPr>
          <p:cNvSpPr>
            <a:spLocks noChangeArrowheads="1"/>
          </p:cNvSpPr>
          <p:nvPr userDrawn="1"/>
        </p:nvSpPr>
        <p:spPr bwMode="auto">
          <a:xfrm>
            <a:off x="6572250" y="581025"/>
            <a:ext cx="2428875" cy="276225"/>
          </a:xfrm>
          <a:prstGeom prst="rect">
            <a:avLst/>
          </a:prstGeom>
          <a:noFill/>
          <a:ln w="9525">
            <a:noFill/>
            <a:miter lim="800000"/>
            <a:headEnd/>
            <a:tailEnd/>
          </a:ln>
          <a:effectLst/>
        </p:spPr>
        <p:txBody>
          <a:bodyPr anchor="ctr">
            <a:spAutoFit/>
          </a:bodyPr>
          <a:lstStyle/>
          <a:p>
            <a:pPr algn="r">
              <a:tabLst>
                <a:tab pos="2806700" algn="ctr"/>
                <a:tab pos="5611813" algn="r"/>
              </a:tabLst>
              <a:defRPr/>
            </a:pPr>
            <a:r>
              <a:rPr lang="es-VE" sz="1200" b="1" i="1">
                <a:solidFill>
                  <a:srgbClr val="365F91"/>
                </a:solidFill>
                <a:ea typeface="Calibri" pitchFamily="34" charset="0"/>
                <a:cs typeface="Times New Roman" pitchFamily="18" charset="0"/>
              </a:rPr>
              <a:t>www.pmoinformatica.com</a:t>
            </a:r>
            <a:endParaRPr lang="es-VE"/>
          </a:p>
        </p:txBody>
      </p:sp>
      <p:sp>
        <p:nvSpPr>
          <p:cNvPr id="2" name="1 Título"/>
          <p:cNvSpPr>
            <a:spLocks noGrp="1"/>
          </p:cNvSpPr>
          <p:nvPr>
            <p:ph type="title"/>
          </p:nvPr>
        </p:nvSpPr>
        <p:spPr/>
        <p:txBody>
          <a:bodyPr/>
          <a:lstStyle>
            <a:lvl1pPr>
              <a:defRPr/>
            </a:lvl1pPr>
          </a:lstStyle>
          <a:p>
            <a:r>
              <a:rPr lang="es-ES"/>
              <a:t>Haga clic para modificar el estilo de título del patrón</a:t>
            </a:r>
            <a:endParaRPr lang="es-V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10" name="6 Marcador de fecha">
            <a:extLst>
              <a:ext uri="{FF2B5EF4-FFF2-40B4-BE49-F238E27FC236}">
                <a16:creationId xmlns:a16="http://schemas.microsoft.com/office/drawing/2014/main" id="{AF450325-770F-B7F4-FE54-480DF9412CB5}"/>
              </a:ext>
            </a:extLst>
          </p:cNvPr>
          <p:cNvSpPr>
            <a:spLocks noGrp="1"/>
          </p:cNvSpPr>
          <p:nvPr>
            <p:ph type="dt" sz="half" idx="10"/>
          </p:nvPr>
        </p:nvSpPr>
        <p:spPr/>
        <p:txBody>
          <a:bodyPr/>
          <a:lstStyle>
            <a:lvl1pPr>
              <a:defRPr/>
            </a:lvl1pPr>
          </a:lstStyle>
          <a:p>
            <a:pPr>
              <a:defRPr/>
            </a:pPr>
            <a:fld id="{D5841C2B-0A9E-4774-8617-929CFD794BBE}" type="datetime1">
              <a:rPr lang="es-VE"/>
              <a:pPr>
                <a:defRPr/>
              </a:pPr>
              <a:t>3/10/2025</a:t>
            </a:fld>
            <a:endParaRPr lang="es-VE"/>
          </a:p>
        </p:txBody>
      </p:sp>
      <p:sp>
        <p:nvSpPr>
          <p:cNvPr id="11" name="7 Marcador de pie de página">
            <a:extLst>
              <a:ext uri="{FF2B5EF4-FFF2-40B4-BE49-F238E27FC236}">
                <a16:creationId xmlns:a16="http://schemas.microsoft.com/office/drawing/2014/main" id="{D8480465-0511-E1C5-5853-2CDC759CAD85}"/>
              </a:ext>
            </a:extLst>
          </p:cNvPr>
          <p:cNvSpPr>
            <a:spLocks noGrp="1"/>
          </p:cNvSpPr>
          <p:nvPr>
            <p:ph type="ftr" sz="quarter" idx="11"/>
          </p:nvPr>
        </p:nvSpPr>
        <p:spPr/>
        <p:txBody>
          <a:bodyPr/>
          <a:lstStyle>
            <a:lvl1pPr>
              <a:defRPr dirty="0"/>
            </a:lvl1pPr>
          </a:lstStyle>
          <a:p>
            <a:pPr>
              <a:defRPr/>
            </a:pPr>
            <a:endParaRPr lang="es-VE"/>
          </a:p>
        </p:txBody>
      </p:sp>
      <p:sp>
        <p:nvSpPr>
          <p:cNvPr id="12" name="8 Marcador de número de diapositiva">
            <a:extLst>
              <a:ext uri="{FF2B5EF4-FFF2-40B4-BE49-F238E27FC236}">
                <a16:creationId xmlns:a16="http://schemas.microsoft.com/office/drawing/2014/main" id="{1B132B30-E122-522A-ACB2-9B0648C7408C}"/>
              </a:ext>
            </a:extLst>
          </p:cNvPr>
          <p:cNvSpPr>
            <a:spLocks noGrp="1"/>
          </p:cNvSpPr>
          <p:nvPr>
            <p:ph type="sldNum" sz="quarter" idx="12"/>
          </p:nvPr>
        </p:nvSpPr>
        <p:spPr/>
        <p:txBody>
          <a:bodyPr/>
          <a:lstStyle>
            <a:lvl1pPr>
              <a:defRPr/>
            </a:lvl1pPr>
          </a:lstStyle>
          <a:p>
            <a:fld id="{7624FACA-445F-42D3-B82A-A02A21100BC0}" type="slidenum">
              <a:rPr lang="es-VE" altLang="es-419"/>
              <a:pPr/>
              <a:t>‹Nº›</a:t>
            </a:fld>
            <a:endParaRPr lang="es-VE" altLang="es-419"/>
          </a:p>
        </p:txBody>
      </p:sp>
    </p:spTree>
    <p:extLst>
      <p:ext uri="{BB962C8B-B14F-4D97-AF65-F5344CB8AC3E}">
        <p14:creationId xmlns:p14="http://schemas.microsoft.com/office/powerpoint/2010/main" val="3589402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3 Marcador de fecha">
            <a:extLst>
              <a:ext uri="{FF2B5EF4-FFF2-40B4-BE49-F238E27FC236}">
                <a16:creationId xmlns:a16="http://schemas.microsoft.com/office/drawing/2014/main" id="{C2AB1715-C697-A170-7F83-B66AB981DD55}"/>
              </a:ext>
            </a:extLst>
          </p:cNvPr>
          <p:cNvSpPr>
            <a:spLocks noGrp="1"/>
          </p:cNvSpPr>
          <p:nvPr>
            <p:ph type="dt" sz="half" idx="10"/>
          </p:nvPr>
        </p:nvSpPr>
        <p:spPr/>
        <p:txBody>
          <a:bodyPr/>
          <a:lstStyle>
            <a:lvl1pPr>
              <a:defRPr/>
            </a:lvl1pPr>
          </a:lstStyle>
          <a:p>
            <a:pPr>
              <a:defRPr/>
            </a:pPr>
            <a:fld id="{D96CB0FF-0F7C-4041-BFCA-A98F83BEBC21}" type="datetime1">
              <a:rPr lang="es-VE"/>
              <a:pPr>
                <a:defRPr/>
              </a:pPr>
              <a:t>3/10/2025</a:t>
            </a:fld>
            <a:endParaRPr lang="es-VE"/>
          </a:p>
        </p:txBody>
      </p:sp>
      <p:sp>
        <p:nvSpPr>
          <p:cNvPr id="4" name="4 Marcador de pie de página">
            <a:extLst>
              <a:ext uri="{FF2B5EF4-FFF2-40B4-BE49-F238E27FC236}">
                <a16:creationId xmlns:a16="http://schemas.microsoft.com/office/drawing/2014/main" id="{76731F13-5006-23C1-2EB2-0B627D1D1AC2}"/>
              </a:ext>
            </a:extLst>
          </p:cNvPr>
          <p:cNvSpPr>
            <a:spLocks noGrp="1"/>
          </p:cNvSpPr>
          <p:nvPr>
            <p:ph type="ftr" sz="quarter" idx="11"/>
          </p:nvPr>
        </p:nvSpPr>
        <p:spPr/>
        <p:txBody>
          <a:bodyPr/>
          <a:lstStyle>
            <a:lvl1pPr>
              <a:defRPr/>
            </a:lvl1pPr>
          </a:lstStyle>
          <a:p>
            <a:pPr>
              <a:defRPr/>
            </a:pPr>
            <a:endParaRPr lang="es-VE"/>
          </a:p>
        </p:txBody>
      </p:sp>
      <p:sp>
        <p:nvSpPr>
          <p:cNvPr id="5" name="5 Marcador de número de diapositiva">
            <a:extLst>
              <a:ext uri="{FF2B5EF4-FFF2-40B4-BE49-F238E27FC236}">
                <a16:creationId xmlns:a16="http://schemas.microsoft.com/office/drawing/2014/main" id="{DA1EBB4F-AAA4-58DB-CC96-76D26DAE9AB3}"/>
              </a:ext>
            </a:extLst>
          </p:cNvPr>
          <p:cNvSpPr>
            <a:spLocks noGrp="1"/>
          </p:cNvSpPr>
          <p:nvPr>
            <p:ph type="sldNum" sz="quarter" idx="12"/>
          </p:nvPr>
        </p:nvSpPr>
        <p:spPr/>
        <p:txBody>
          <a:bodyPr/>
          <a:lstStyle>
            <a:lvl1pPr>
              <a:defRPr/>
            </a:lvl1pPr>
          </a:lstStyle>
          <a:p>
            <a:fld id="{393912AB-AC66-4A63-9D1E-628CCB33806B}" type="slidenum">
              <a:rPr lang="es-VE" altLang="es-419"/>
              <a:pPr/>
              <a:t>‹Nº›</a:t>
            </a:fld>
            <a:endParaRPr lang="es-VE" altLang="es-419"/>
          </a:p>
        </p:txBody>
      </p:sp>
    </p:spTree>
    <p:extLst>
      <p:ext uri="{BB962C8B-B14F-4D97-AF65-F5344CB8AC3E}">
        <p14:creationId xmlns:p14="http://schemas.microsoft.com/office/powerpoint/2010/main" val="577547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a:extLst>
              <a:ext uri="{FF2B5EF4-FFF2-40B4-BE49-F238E27FC236}">
                <a16:creationId xmlns:a16="http://schemas.microsoft.com/office/drawing/2014/main" id="{9BD57875-E854-51F0-7993-163222B99775}"/>
              </a:ext>
            </a:extLst>
          </p:cNvPr>
          <p:cNvSpPr>
            <a:spLocks noGrp="1"/>
          </p:cNvSpPr>
          <p:nvPr>
            <p:ph type="dt" sz="half" idx="10"/>
          </p:nvPr>
        </p:nvSpPr>
        <p:spPr/>
        <p:txBody>
          <a:bodyPr/>
          <a:lstStyle>
            <a:lvl1pPr>
              <a:defRPr/>
            </a:lvl1pPr>
          </a:lstStyle>
          <a:p>
            <a:pPr>
              <a:defRPr/>
            </a:pPr>
            <a:fld id="{69047B64-F644-49D2-863D-09379357D086}" type="datetime1">
              <a:rPr lang="es-VE"/>
              <a:pPr>
                <a:defRPr/>
              </a:pPr>
              <a:t>3/10/2025</a:t>
            </a:fld>
            <a:endParaRPr lang="es-VE"/>
          </a:p>
        </p:txBody>
      </p:sp>
      <p:sp>
        <p:nvSpPr>
          <p:cNvPr id="3" name="4 Marcador de pie de página">
            <a:extLst>
              <a:ext uri="{FF2B5EF4-FFF2-40B4-BE49-F238E27FC236}">
                <a16:creationId xmlns:a16="http://schemas.microsoft.com/office/drawing/2014/main" id="{11466B1E-6419-8486-B1F4-8EA01FAE8125}"/>
              </a:ext>
            </a:extLst>
          </p:cNvPr>
          <p:cNvSpPr>
            <a:spLocks noGrp="1"/>
          </p:cNvSpPr>
          <p:nvPr>
            <p:ph type="ftr" sz="quarter" idx="11"/>
          </p:nvPr>
        </p:nvSpPr>
        <p:spPr/>
        <p:txBody>
          <a:bodyPr/>
          <a:lstStyle>
            <a:lvl1pPr>
              <a:defRPr/>
            </a:lvl1pPr>
          </a:lstStyle>
          <a:p>
            <a:pPr>
              <a:defRPr/>
            </a:pPr>
            <a:endParaRPr lang="es-VE"/>
          </a:p>
        </p:txBody>
      </p:sp>
      <p:sp>
        <p:nvSpPr>
          <p:cNvPr id="4" name="5 Marcador de número de diapositiva">
            <a:extLst>
              <a:ext uri="{FF2B5EF4-FFF2-40B4-BE49-F238E27FC236}">
                <a16:creationId xmlns:a16="http://schemas.microsoft.com/office/drawing/2014/main" id="{4201E128-B3C4-4690-7DA4-110EA937A701}"/>
              </a:ext>
            </a:extLst>
          </p:cNvPr>
          <p:cNvSpPr>
            <a:spLocks noGrp="1"/>
          </p:cNvSpPr>
          <p:nvPr>
            <p:ph type="sldNum" sz="quarter" idx="12"/>
          </p:nvPr>
        </p:nvSpPr>
        <p:spPr/>
        <p:txBody>
          <a:bodyPr/>
          <a:lstStyle>
            <a:lvl1pPr>
              <a:defRPr/>
            </a:lvl1pPr>
          </a:lstStyle>
          <a:p>
            <a:fld id="{7AC43EB4-D055-4010-80B4-A5E415A36504}" type="slidenum">
              <a:rPr lang="es-VE" altLang="es-419"/>
              <a:pPr/>
              <a:t>‹Nº›</a:t>
            </a:fld>
            <a:endParaRPr lang="es-VE" altLang="es-419"/>
          </a:p>
        </p:txBody>
      </p:sp>
    </p:spTree>
    <p:extLst>
      <p:ext uri="{BB962C8B-B14F-4D97-AF65-F5344CB8AC3E}">
        <p14:creationId xmlns:p14="http://schemas.microsoft.com/office/powerpoint/2010/main" val="319221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V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27E16A5B-17FE-ACB1-44D0-F0162C991E55}"/>
              </a:ext>
            </a:extLst>
          </p:cNvPr>
          <p:cNvSpPr>
            <a:spLocks noGrp="1"/>
          </p:cNvSpPr>
          <p:nvPr>
            <p:ph type="dt" sz="half" idx="10"/>
          </p:nvPr>
        </p:nvSpPr>
        <p:spPr/>
        <p:txBody>
          <a:bodyPr/>
          <a:lstStyle>
            <a:lvl1pPr>
              <a:defRPr/>
            </a:lvl1pPr>
          </a:lstStyle>
          <a:p>
            <a:pPr>
              <a:defRPr/>
            </a:pPr>
            <a:fld id="{9A42FD5A-B17E-4618-850B-AA85EA5312CE}" type="datetime1">
              <a:rPr lang="es-VE"/>
              <a:pPr>
                <a:defRPr/>
              </a:pPr>
              <a:t>3/10/2025</a:t>
            </a:fld>
            <a:endParaRPr lang="es-VE"/>
          </a:p>
        </p:txBody>
      </p:sp>
      <p:sp>
        <p:nvSpPr>
          <p:cNvPr id="6" name="4 Marcador de pie de página">
            <a:extLst>
              <a:ext uri="{FF2B5EF4-FFF2-40B4-BE49-F238E27FC236}">
                <a16:creationId xmlns:a16="http://schemas.microsoft.com/office/drawing/2014/main" id="{BF58DD69-EDB7-DAA4-B9A2-E751BE478A98}"/>
              </a:ext>
            </a:extLst>
          </p:cNvPr>
          <p:cNvSpPr>
            <a:spLocks noGrp="1"/>
          </p:cNvSpPr>
          <p:nvPr>
            <p:ph type="ftr" sz="quarter" idx="11"/>
          </p:nvPr>
        </p:nvSpPr>
        <p:spPr/>
        <p:txBody>
          <a:bodyPr/>
          <a:lstStyle>
            <a:lvl1pPr>
              <a:defRPr/>
            </a:lvl1pPr>
          </a:lstStyle>
          <a:p>
            <a:pPr>
              <a:defRPr/>
            </a:pPr>
            <a:endParaRPr lang="es-VE"/>
          </a:p>
        </p:txBody>
      </p:sp>
      <p:sp>
        <p:nvSpPr>
          <p:cNvPr id="7" name="5 Marcador de número de diapositiva">
            <a:extLst>
              <a:ext uri="{FF2B5EF4-FFF2-40B4-BE49-F238E27FC236}">
                <a16:creationId xmlns:a16="http://schemas.microsoft.com/office/drawing/2014/main" id="{C8A28A5A-1E09-051C-0817-8017F0DB30A8}"/>
              </a:ext>
            </a:extLst>
          </p:cNvPr>
          <p:cNvSpPr>
            <a:spLocks noGrp="1"/>
          </p:cNvSpPr>
          <p:nvPr>
            <p:ph type="sldNum" sz="quarter" idx="12"/>
          </p:nvPr>
        </p:nvSpPr>
        <p:spPr/>
        <p:txBody>
          <a:bodyPr/>
          <a:lstStyle>
            <a:lvl1pPr>
              <a:defRPr/>
            </a:lvl1pPr>
          </a:lstStyle>
          <a:p>
            <a:fld id="{7AEF6B1E-7F72-44E5-8038-622D1F6115D1}" type="slidenum">
              <a:rPr lang="es-VE" altLang="es-419"/>
              <a:pPr/>
              <a:t>‹Nº›</a:t>
            </a:fld>
            <a:endParaRPr lang="es-VE" altLang="es-419"/>
          </a:p>
        </p:txBody>
      </p:sp>
    </p:spTree>
    <p:extLst>
      <p:ext uri="{BB962C8B-B14F-4D97-AF65-F5344CB8AC3E}">
        <p14:creationId xmlns:p14="http://schemas.microsoft.com/office/powerpoint/2010/main" val="112662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VE"/>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VE"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3 Marcador de fecha">
            <a:extLst>
              <a:ext uri="{FF2B5EF4-FFF2-40B4-BE49-F238E27FC236}">
                <a16:creationId xmlns:a16="http://schemas.microsoft.com/office/drawing/2014/main" id="{95B5DB4F-499C-D631-2374-A8204C80EEC1}"/>
              </a:ext>
            </a:extLst>
          </p:cNvPr>
          <p:cNvSpPr>
            <a:spLocks noGrp="1"/>
          </p:cNvSpPr>
          <p:nvPr>
            <p:ph type="dt" sz="half" idx="10"/>
          </p:nvPr>
        </p:nvSpPr>
        <p:spPr/>
        <p:txBody>
          <a:bodyPr/>
          <a:lstStyle>
            <a:lvl1pPr>
              <a:defRPr/>
            </a:lvl1pPr>
          </a:lstStyle>
          <a:p>
            <a:pPr>
              <a:defRPr/>
            </a:pPr>
            <a:fld id="{2688DA5C-0284-4172-A617-09E824C58FAF}" type="datetime1">
              <a:rPr lang="es-VE"/>
              <a:pPr>
                <a:defRPr/>
              </a:pPr>
              <a:t>3/10/2025</a:t>
            </a:fld>
            <a:endParaRPr lang="es-VE"/>
          </a:p>
        </p:txBody>
      </p:sp>
      <p:sp>
        <p:nvSpPr>
          <p:cNvPr id="6" name="4 Marcador de pie de página">
            <a:extLst>
              <a:ext uri="{FF2B5EF4-FFF2-40B4-BE49-F238E27FC236}">
                <a16:creationId xmlns:a16="http://schemas.microsoft.com/office/drawing/2014/main" id="{A38E703A-8387-F9AC-6C3C-1B0DD1B2B3EC}"/>
              </a:ext>
            </a:extLst>
          </p:cNvPr>
          <p:cNvSpPr>
            <a:spLocks noGrp="1"/>
          </p:cNvSpPr>
          <p:nvPr>
            <p:ph type="ftr" sz="quarter" idx="11"/>
          </p:nvPr>
        </p:nvSpPr>
        <p:spPr/>
        <p:txBody>
          <a:bodyPr/>
          <a:lstStyle>
            <a:lvl1pPr>
              <a:defRPr/>
            </a:lvl1pPr>
          </a:lstStyle>
          <a:p>
            <a:pPr>
              <a:defRPr/>
            </a:pPr>
            <a:endParaRPr lang="es-VE"/>
          </a:p>
        </p:txBody>
      </p:sp>
      <p:sp>
        <p:nvSpPr>
          <p:cNvPr id="7" name="5 Marcador de número de diapositiva">
            <a:extLst>
              <a:ext uri="{FF2B5EF4-FFF2-40B4-BE49-F238E27FC236}">
                <a16:creationId xmlns:a16="http://schemas.microsoft.com/office/drawing/2014/main" id="{7FB8ABA3-F974-38E4-3FCC-962AEDDBD48D}"/>
              </a:ext>
            </a:extLst>
          </p:cNvPr>
          <p:cNvSpPr>
            <a:spLocks noGrp="1"/>
          </p:cNvSpPr>
          <p:nvPr>
            <p:ph type="sldNum" sz="quarter" idx="12"/>
          </p:nvPr>
        </p:nvSpPr>
        <p:spPr/>
        <p:txBody>
          <a:bodyPr/>
          <a:lstStyle>
            <a:lvl1pPr>
              <a:defRPr/>
            </a:lvl1pPr>
          </a:lstStyle>
          <a:p>
            <a:fld id="{E51CF7E7-4FDA-40E9-BBA0-86AEB352D1B8}" type="slidenum">
              <a:rPr lang="es-VE" altLang="es-419"/>
              <a:pPr/>
              <a:t>‹Nº›</a:t>
            </a:fld>
            <a:endParaRPr lang="es-VE" altLang="es-419"/>
          </a:p>
        </p:txBody>
      </p:sp>
    </p:spTree>
    <p:extLst>
      <p:ext uri="{BB962C8B-B14F-4D97-AF65-F5344CB8AC3E}">
        <p14:creationId xmlns:p14="http://schemas.microsoft.com/office/powerpoint/2010/main" val="4200345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VE"/>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fecha">
            <a:extLst>
              <a:ext uri="{FF2B5EF4-FFF2-40B4-BE49-F238E27FC236}">
                <a16:creationId xmlns:a16="http://schemas.microsoft.com/office/drawing/2014/main" id="{70A073C4-D903-86F7-1E78-44398D672AE0}"/>
              </a:ext>
            </a:extLst>
          </p:cNvPr>
          <p:cNvSpPr>
            <a:spLocks noGrp="1"/>
          </p:cNvSpPr>
          <p:nvPr>
            <p:ph type="dt" sz="half" idx="10"/>
          </p:nvPr>
        </p:nvSpPr>
        <p:spPr/>
        <p:txBody>
          <a:bodyPr/>
          <a:lstStyle>
            <a:lvl1pPr>
              <a:defRPr/>
            </a:lvl1pPr>
          </a:lstStyle>
          <a:p>
            <a:pPr>
              <a:defRPr/>
            </a:pPr>
            <a:fld id="{86B0FCD9-F710-4307-B8ED-1A6F569E9AC4}" type="datetime1">
              <a:rPr lang="es-VE"/>
              <a:pPr>
                <a:defRPr/>
              </a:pPr>
              <a:t>3/10/2025</a:t>
            </a:fld>
            <a:endParaRPr lang="es-VE"/>
          </a:p>
        </p:txBody>
      </p:sp>
      <p:sp>
        <p:nvSpPr>
          <p:cNvPr id="5" name="4 Marcador de pie de página">
            <a:extLst>
              <a:ext uri="{FF2B5EF4-FFF2-40B4-BE49-F238E27FC236}">
                <a16:creationId xmlns:a16="http://schemas.microsoft.com/office/drawing/2014/main" id="{146252F6-709D-A8E7-BC03-8229F6D9903A}"/>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C8CF3CC1-4FF2-0B5F-39D3-3265F77106F6}"/>
              </a:ext>
            </a:extLst>
          </p:cNvPr>
          <p:cNvSpPr>
            <a:spLocks noGrp="1"/>
          </p:cNvSpPr>
          <p:nvPr>
            <p:ph type="sldNum" sz="quarter" idx="12"/>
          </p:nvPr>
        </p:nvSpPr>
        <p:spPr/>
        <p:txBody>
          <a:bodyPr/>
          <a:lstStyle>
            <a:lvl1pPr>
              <a:defRPr/>
            </a:lvl1pPr>
          </a:lstStyle>
          <a:p>
            <a:fld id="{085753BC-B49F-4695-BE9F-6916F6262563}" type="slidenum">
              <a:rPr lang="es-VE" altLang="es-419"/>
              <a:pPr/>
              <a:t>‹Nº›</a:t>
            </a:fld>
            <a:endParaRPr lang="es-VE" altLang="es-419"/>
          </a:p>
        </p:txBody>
      </p:sp>
    </p:spTree>
    <p:extLst>
      <p:ext uri="{BB962C8B-B14F-4D97-AF65-F5344CB8AC3E}">
        <p14:creationId xmlns:p14="http://schemas.microsoft.com/office/powerpoint/2010/main" val="2205925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VE"/>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4" name="3 Marcador de fecha">
            <a:extLst>
              <a:ext uri="{FF2B5EF4-FFF2-40B4-BE49-F238E27FC236}">
                <a16:creationId xmlns:a16="http://schemas.microsoft.com/office/drawing/2014/main" id="{47B827D9-BE69-FEE2-DDF6-AB15204DB1B1}"/>
              </a:ext>
            </a:extLst>
          </p:cNvPr>
          <p:cNvSpPr>
            <a:spLocks noGrp="1"/>
          </p:cNvSpPr>
          <p:nvPr>
            <p:ph type="dt" sz="half" idx="10"/>
          </p:nvPr>
        </p:nvSpPr>
        <p:spPr/>
        <p:txBody>
          <a:bodyPr/>
          <a:lstStyle>
            <a:lvl1pPr>
              <a:defRPr/>
            </a:lvl1pPr>
          </a:lstStyle>
          <a:p>
            <a:pPr>
              <a:defRPr/>
            </a:pPr>
            <a:fld id="{4712777E-FB6A-4A0E-A54A-C46723A04389}" type="datetime1">
              <a:rPr lang="es-VE"/>
              <a:pPr>
                <a:defRPr/>
              </a:pPr>
              <a:t>3/10/2025</a:t>
            </a:fld>
            <a:endParaRPr lang="es-VE"/>
          </a:p>
        </p:txBody>
      </p:sp>
      <p:sp>
        <p:nvSpPr>
          <p:cNvPr id="5" name="4 Marcador de pie de página">
            <a:extLst>
              <a:ext uri="{FF2B5EF4-FFF2-40B4-BE49-F238E27FC236}">
                <a16:creationId xmlns:a16="http://schemas.microsoft.com/office/drawing/2014/main" id="{16B445C7-140B-B727-AFC5-C16A3D81D03C}"/>
              </a:ext>
            </a:extLst>
          </p:cNvPr>
          <p:cNvSpPr>
            <a:spLocks noGrp="1"/>
          </p:cNvSpPr>
          <p:nvPr>
            <p:ph type="ftr" sz="quarter" idx="11"/>
          </p:nvPr>
        </p:nvSpPr>
        <p:spPr/>
        <p:txBody>
          <a:bodyPr/>
          <a:lstStyle>
            <a:lvl1pPr>
              <a:defRPr/>
            </a:lvl1pPr>
          </a:lstStyle>
          <a:p>
            <a:pPr>
              <a:defRPr/>
            </a:pPr>
            <a:endParaRPr lang="es-VE"/>
          </a:p>
        </p:txBody>
      </p:sp>
      <p:sp>
        <p:nvSpPr>
          <p:cNvPr id="6" name="5 Marcador de número de diapositiva">
            <a:extLst>
              <a:ext uri="{FF2B5EF4-FFF2-40B4-BE49-F238E27FC236}">
                <a16:creationId xmlns:a16="http://schemas.microsoft.com/office/drawing/2014/main" id="{9BCCB7AE-DEB2-0E09-EFAB-46CC7C8B2AF3}"/>
              </a:ext>
            </a:extLst>
          </p:cNvPr>
          <p:cNvSpPr>
            <a:spLocks noGrp="1"/>
          </p:cNvSpPr>
          <p:nvPr>
            <p:ph type="sldNum" sz="quarter" idx="12"/>
          </p:nvPr>
        </p:nvSpPr>
        <p:spPr/>
        <p:txBody>
          <a:bodyPr/>
          <a:lstStyle>
            <a:lvl1pPr>
              <a:defRPr/>
            </a:lvl1pPr>
          </a:lstStyle>
          <a:p>
            <a:fld id="{CBCFACC4-1DFE-4302-9ECA-B7A1E6FE9698}" type="slidenum">
              <a:rPr lang="es-VE" altLang="es-419"/>
              <a:pPr/>
              <a:t>‹Nº›</a:t>
            </a:fld>
            <a:endParaRPr lang="es-VE" altLang="es-419"/>
          </a:p>
        </p:txBody>
      </p:sp>
    </p:spTree>
    <p:extLst>
      <p:ext uri="{BB962C8B-B14F-4D97-AF65-F5344CB8AC3E}">
        <p14:creationId xmlns:p14="http://schemas.microsoft.com/office/powerpoint/2010/main" val="1550897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1 Marcador de título">
            <a:extLst>
              <a:ext uri="{FF2B5EF4-FFF2-40B4-BE49-F238E27FC236}">
                <a16:creationId xmlns:a16="http://schemas.microsoft.com/office/drawing/2014/main" id="{74956FCE-9E3B-52B3-2B23-2C0565AD9E2C}"/>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419"/>
              <a:t>Haga clic para modificar el estilo de título del patrón</a:t>
            </a:r>
            <a:endParaRPr lang="es-VE" altLang="es-419"/>
          </a:p>
        </p:txBody>
      </p:sp>
      <p:sp>
        <p:nvSpPr>
          <p:cNvPr id="1027" name="2 Marcador de texto">
            <a:extLst>
              <a:ext uri="{FF2B5EF4-FFF2-40B4-BE49-F238E27FC236}">
                <a16:creationId xmlns:a16="http://schemas.microsoft.com/office/drawing/2014/main" id="{F7890A40-C4A1-269F-9966-D0A84D4C11DA}"/>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419"/>
              <a:t>Haga clic para modificar el estilo de texto del patrón</a:t>
            </a:r>
          </a:p>
          <a:p>
            <a:pPr lvl="1"/>
            <a:r>
              <a:rPr lang="es-ES" altLang="es-419"/>
              <a:t>Segundo nivel</a:t>
            </a:r>
          </a:p>
          <a:p>
            <a:pPr lvl="2"/>
            <a:r>
              <a:rPr lang="es-ES" altLang="es-419"/>
              <a:t>Tercer nivel</a:t>
            </a:r>
          </a:p>
          <a:p>
            <a:pPr lvl="3"/>
            <a:r>
              <a:rPr lang="es-ES" altLang="es-419"/>
              <a:t>Cuarto nivel</a:t>
            </a:r>
          </a:p>
          <a:p>
            <a:pPr lvl="4"/>
            <a:r>
              <a:rPr lang="es-ES" altLang="es-419"/>
              <a:t>Quinto nivel</a:t>
            </a:r>
            <a:endParaRPr lang="es-VE" altLang="es-419"/>
          </a:p>
        </p:txBody>
      </p:sp>
      <p:sp>
        <p:nvSpPr>
          <p:cNvPr id="4" name="3 Marcador de fecha">
            <a:extLst>
              <a:ext uri="{FF2B5EF4-FFF2-40B4-BE49-F238E27FC236}">
                <a16:creationId xmlns:a16="http://schemas.microsoft.com/office/drawing/2014/main" id="{FD0C820F-E5CA-C786-778F-DFE6765E6A3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95DF2C5B-D07A-459E-BADD-EDD98A666DDF}" type="datetime1">
              <a:rPr lang="es-VE"/>
              <a:pPr>
                <a:defRPr/>
              </a:pPr>
              <a:t>3/10/2025</a:t>
            </a:fld>
            <a:endParaRPr lang="es-VE"/>
          </a:p>
        </p:txBody>
      </p:sp>
      <p:sp>
        <p:nvSpPr>
          <p:cNvPr id="5" name="4 Marcador de pie de página">
            <a:extLst>
              <a:ext uri="{FF2B5EF4-FFF2-40B4-BE49-F238E27FC236}">
                <a16:creationId xmlns:a16="http://schemas.microsoft.com/office/drawing/2014/main" id="{8877EF67-BB39-4A6A-5A12-992256AED263}"/>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dirty="0">
                <a:solidFill>
                  <a:schemeClr val="tx1">
                    <a:tint val="75000"/>
                  </a:schemeClr>
                </a:solidFill>
                <a:latin typeface="+mn-lt"/>
                <a:cs typeface="+mn-cs"/>
              </a:defRPr>
            </a:lvl1pPr>
          </a:lstStyle>
          <a:p>
            <a:pPr>
              <a:defRPr/>
            </a:pPr>
            <a:endParaRPr lang="es-VE"/>
          </a:p>
        </p:txBody>
      </p:sp>
      <p:sp>
        <p:nvSpPr>
          <p:cNvPr id="6" name="5 Marcador de número de diapositiva">
            <a:extLst>
              <a:ext uri="{FF2B5EF4-FFF2-40B4-BE49-F238E27FC236}">
                <a16:creationId xmlns:a16="http://schemas.microsoft.com/office/drawing/2014/main" id="{8C0A63F0-1845-588C-2701-BE19C74E6A02}"/>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5932DCC-5C7E-444F-9EAC-F6DA9F6BF722}" type="slidenum">
              <a:rPr lang="es-VE" altLang="es-419"/>
              <a:pPr/>
              <a:t>‹Nº›</a:t>
            </a:fld>
            <a:endParaRPr lang="es-VE" altLang="es-419"/>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694" r:id="rId3"/>
    <p:sldLayoutId id="2147483703" r:id="rId4"/>
    <p:sldLayoutId id="214748370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Título">
            <a:extLst>
              <a:ext uri="{FF2B5EF4-FFF2-40B4-BE49-F238E27FC236}">
                <a16:creationId xmlns:a16="http://schemas.microsoft.com/office/drawing/2014/main" id="{31F1FD1F-2C19-5E8E-DA83-2D56D30376A2}"/>
              </a:ext>
            </a:extLst>
          </p:cNvPr>
          <p:cNvSpPr>
            <a:spLocks noGrp="1"/>
          </p:cNvSpPr>
          <p:nvPr>
            <p:ph type="ctrTitle"/>
          </p:nvPr>
        </p:nvSpPr>
        <p:spPr/>
        <p:txBody>
          <a:bodyPr/>
          <a:lstStyle/>
          <a:p>
            <a:pPr eaLnBrk="1" hangingPunct="1">
              <a:defRPr/>
            </a:pPr>
            <a:r>
              <a:rPr lang="es-VE" b="1" dirty="0"/>
              <a:t>Caso de Negocio</a:t>
            </a:r>
            <a:br>
              <a:rPr lang="es-VE" b="1" dirty="0"/>
            </a:br>
            <a:r>
              <a:rPr lang="es-VE" sz="2400" b="1" dirty="0">
                <a:solidFill>
                  <a:srgbClr val="00B050"/>
                </a:solidFill>
              </a:rPr>
              <a:t> [</a:t>
            </a:r>
            <a:r>
              <a:rPr lang="es-419" sz="2400" dirty="0">
                <a:solidFill>
                  <a:srgbClr val="00B050"/>
                </a:solidFill>
                <a:latin typeface="Didact Gothic"/>
                <a:ea typeface="Didact Gothic"/>
                <a:cs typeface="Didact Gothic"/>
                <a:sym typeface="Didact Gothic"/>
              </a:rPr>
              <a:t>Alto índice de reprobación en la licenciatura de Ingeniería en Computación por el desconocimiento de baja de materias en alumnos de primer semestre</a:t>
            </a:r>
            <a:r>
              <a:rPr lang="es-VE" sz="2400" b="1" dirty="0">
                <a:solidFill>
                  <a:srgbClr val="00B050"/>
                </a:solidFill>
              </a:rPr>
              <a:t>]</a:t>
            </a:r>
            <a:endParaRPr lang="es-VE" sz="2400" b="1" dirty="0">
              <a:solidFill>
                <a:srgbClr val="00B050"/>
              </a:solidFill>
              <a:latin typeface="+mn-lt"/>
              <a:ea typeface="+mn-ea"/>
              <a:cs typeface="+mn-cs"/>
            </a:endParaRPr>
          </a:p>
        </p:txBody>
      </p:sp>
      <p:sp>
        <p:nvSpPr>
          <p:cNvPr id="3" name="2 Subtítulo">
            <a:extLst>
              <a:ext uri="{FF2B5EF4-FFF2-40B4-BE49-F238E27FC236}">
                <a16:creationId xmlns:a16="http://schemas.microsoft.com/office/drawing/2014/main" id="{43B5F607-15B0-EC18-380D-07CEFC6458E0}"/>
              </a:ext>
            </a:extLst>
          </p:cNvPr>
          <p:cNvSpPr>
            <a:spLocks noGrp="1"/>
          </p:cNvSpPr>
          <p:nvPr>
            <p:ph type="subTitle" idx="1"/>
          </p:nvPr>
        </p:nvSpPr>
        <p:spPr>
          <a:xfrm>
            <a:off x="1500188" y="3786188"/>
            <a:ext cx="6400800" cy="1500187"/>
          </a:xfrm>
        </p:spPr>
        <p:txBody>
          <a:bodyPr rtlCol="0">
            <a:normAutofit fontScale="70000" lnSpcReduction="20000"/>
          </a:bodyPr>
          <a:lstStyle/>
          <a:p>
            <a:pPr algn="l" eaLnBrk="1" fontAlgn="auto" hangingPunct="1">
              <a:spcAft>
                <a:spcPts val="0"/>
              </a:spcAft>
              <a:defRPr/>
            </a:pPr>
            <a:r>
              <a:rPr lang="es-VE" sz="2800" b="1" dirty="0"/>
              <a:t>Organización: </a:t>
            </a:r>
            <a:r>
              <a:rPr lang="es-VE" sz="2800" b="1" dirty="0">
                <a:solidFill>
                  <a:srgbClr val="00B050"/>
                </a:solidFill>
              </a:rPr>
              <a:t>[Centro Universitario UAEM Zumpango]</a:t>
            </a:r>
            <a:endParaRPr lang="es-VE" sz="2800" b="1" dirty="0"/>
          </a:p>
          <a:p>
            <a:pPr algn="l" eaLnBrk="1" fontAlgn="auto" hangingPunct="1">
              <a:spcAft>
                <a:spcPts val="0"/>
              </a:spcAft>
              <a:defRPr/>
            </a:pPr>
            <a:r>
              <a:rPr lang="es-VE" sz="2800" b="1" dirty="0"/>
              <a:t>Fecha:</a:t>
            </a:r>
            <a:r>
              <a:rPr lang="es-VE" sz="2800" dirty="0"/>
              <a:t> </a:t>
            </a:r>
            <a:r>
              <a:rPr lang="es-VE" sz="2800" b="1" dirty="0">
                <a:solidFill>
                  <a:srgbClr val="00B050"/>
                </a:solidFill>
              </a:rPr>
              <a:t>[02/10/2025]</a:t>
            </a:r>
          </a:p>
          <a:p>
            <a:pPr algn="l" eaLnBrk="1" fontAlgn="auto" hangingPunct="1">
              <a:spcAft>
                <a:spcPts val="0"/>
              </a:spcAft>
              <a:defRPr/>
            </a:pPr>
            <a:r>
              <a:rPr lang="es-VE" sz="2800" b="1" dirty="0"/>
              <a:t>Cliente: </a:t>
            </a:r>
            <a:r>
              <a:rPr lang="es-VE" sz="2800" b="1" dirty="0">
                <a:solidFill>
                  <a:srgbClr val="00B050"/>
                </a:solidFill>
              </a:rPr>
              <a:t>[Estudiantes de primer semestre de I.C.O]</a:t>
            </a:r>
          </a:p>
          <a:p>
            <a:pPr algn="l" eaLnBrk="1" fontAlgn="auto" hangingPunct="1">
              <a:spcAft>
                <a:spcPts val="0"/>
              </a:spcAft>
              <a:defRPr/>
            </a:pPr>
            <a:r>
              <a:rPr lang="es-VE" sz="2800" b="1" dirty="0"/>
              <a:t>Patrocinador: </a:t>
            </a:r>
            <a:r>
              <a:rPr lang="es-VE" sz="2800" b="1" dirty="0">
                <a:solidFill>
                  <a:srgbClr val="00B050"/>
                </a:solidFill>
              </a:rPr>
              <a:t>[Coordinación de I.C.O]</a:t>
            </a:r>
            <a:endParaRPr lang="es-VE" sz="2800" b="1" dirty="0"/>
          </a:p>
          <a:p>
            <a:pPr algn="l" eaLnBrk="1" fontAlgn="auto" hangingPunct="1">
              <a:spcAft>
                <a:spcPts val="0"/>
              </a:spcAft>
              <a:defRPr/>
            </a:pPr>
            <a:endParaRPr lang="es-VE" sz="2800" b="1" dirty="0"/>
          </a:p>
          <a:p>
            <a:pPr algn="l" eaLnBrk="1" fontAlgn="auto" hangingPunct="1">
              <a:spcAft>
                <a:spcPts val="0"/>
              </a:spcAft>
              <a:defRPr/>
            </a:pPr>
            <a:endParaRPr lang="es-VE" sz="2800" b="1" dirty="0">
              <a:solidFill>
                <a:srgbClr val="00B050"/>
              </a:solidFill>
            </a:endParaRPr>
          </a:p>
        </p:txBody>
      </p:sp>
      <p:sp>
        <p:nvSpPr>
          <p:cNvPr id="4" name="3 Marcador de número de diapositiva">
            <a:extLst>
              <a:ext uri="{FF2B5EF4-FFF2-40B4-BE49-F238E27FC236}">
                <a16:creationId xmlns:a16="http://schemas.microsoft.com/office/drawing/2014/main" id="{4D736AF9-A699-C893-45A5-D403485B900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E3BF7B6-8E69-4399-91B0-E6D9517A2B09}" type="slidenum">
              <a:rPr lang="es-VE" altLang="es-419">
                <a:solidFill>
                  <a:srgbClr val="898989"/>
                </a:solidFill>
                <a:latin typeface="Calibri" panose="020F0502020204030204" pitchFamily="34" charset="0"/>
              </a:rPr>
              <a:pPr eaLnBrk="1" hangingPunct="1"/>
              <a:t>1</a:t>
            </a:fld>
            <a:endParaRPr lang="es-VE" altLang="es-419">
              <a:solidFill>
                <a:srgbClr val="898989"/>
              </a:solidFill>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8B464992-6BA6-1A61-C074-9795AAAFB0ED}"/>
              </a:ext>
            </a:extLst>
          </p:cNvPr>
          <p:cNvSpPr txBox="1">
            <a:spLocks/>
          </p:cNvSpPr>
          <p:nvPr/>
        </p:nvSpPr>
        <p:spPr>
          <a:xfrm>
            <a:off x="600075" y="1357313"/>
            <a:ext cx="7772400" cy="357187"/>
          </a:xfrm>
          <a:prstGeom prst="rect">
            <a:avLst/>
          </a:prstGeom>
        </p:spPr>
        <p:txBody>
          <a:bodyPr anchor="ctr"/>
          <a:lstStyle/>
          <a:p>
            <a:pPr fontAlgn="auto">
              <a:spcAft>
                <a:spcPts val="0"/>
              </a:spcAft>
              <a:defRPr/>
            </a:pPr>
            <a:r>
              <a:rPr lang="es-VE" sz="2800" b="1">
                <a:latin typeface="+mj-lt"/>
                <a:ea typeface="+mj-ea"/>
                <a:cs typeface="+mj-cs"/>
              </a:rPr>
              <a:t>Agenda</a:t>
            </a:r>
          </a:p>
        </p:txBody>
      </p:sp>
      <p:sp>
        <p:nvSpPr>
          <p:cNvPr id="7171" name="7 Marcador de contenido">
            <a:extLst>
              <a:ext uri="{FF2B5EF4-FFF2-40B4-BE49-F238E27FC236}">
                <a16:creationId xmlns:a16="http://schemas.microsoft.com/office/drawing/2014/main" id="{4E1487E8-23BD-A58B-1E00-54DF49B061BC}"/>
              </a:ext>
            </a:extLst>
          </p:cNvPr>
          <p:cNvSpPr>
            <a:spLocks noGrp="1"/>
          </p:cNvSpPr>
          <p:nvPr>
            <p:ph sz="half" idx="1"/>
          </p:nvPr>
        </p:nvSpPr>
        <p:spPr>
          <a:xfrm>
            <a:off x="600075" y="1928813"/>
            <a:ext cx="8258175" cy="3714750"/>
          </a:xfrm>
        </p:spPr>
        <p:txBody>
          <a:bodyPr/>
          <a:lstStyle/>
          <a:p>
            <a:pPr eaLnBrk="1" hangingPunct="1"/>
            <a:r>
              <a:rPr lang="es-VE" altLang="es-419" sz="2400"/>
              <a:t>Resumen Ejecutivo</a:t>
            </a:r>
          </a:p>
          <a:p>
            <a:pPr eaLnBrk="1" hangingPunct="1"/>
            <a:r>
              <a:rPr lang="es-VE" altLang="es-419" sz="2400"/>
              <a:t>Definición del problema</a:t>
            </a:r>
          </a:p>
          <a:p>
            <a:pPr eaLnBrk="1" hangingPunct="1"/>
            <a:r>
              <a:rPr lang="es-VE" altLang="es-419" sz="2400"/>
              <a:t>Visión General del Proyecto</a:t>
            </a:r>
          </a:p>
          <a:p>
            <a:pPr eaLnBrk="1" hangingPunct="1"/>
            <a:r>
              <a:rPr lang="es-VE" altLang="es-419" sz="2400"/>
              <a:t>Alineación del proyecto con los objetivos estratégicos</a:t>
            </a:r>
          </a:p>
          <a:p>
            <a:pPr eaLnBrk="1" hangingPunct="1"/>
            <a:r>
              <a:rPr lang="es-VE" altLang="es-419" sz="2400"/>
              <a:t>Análisis Costo Beneficio</a:t>
            </a:r>
          </a:p>
          <a:p>
            <a:pPr eaLnBrk="1" hangingPunct="1"/>
            <a:r>
              <a:rPr lang="es-VE" altLang="es-419" sz="2400"/>
              <a:t>Análisis de Alternativas</a:t>
            </a:r>
          </a:p>
          <a:p>
            <a:pPr eaLnBrk="1" hangingPunct="1"/>
            <a:r>
              <a:rPr lang="es-VE" altLang="es-419" sz="2400"/>
              <a:t>Aprobaciones</a:t>
            </a:r>
          </a:p>
        </p:txBody>
      </p:sp>
      <p:sp>
        <p:nvSpPr>
          <p:cNvPr id="13" name="12 Marcador de número de diapositiva">
            <a:extLst>
              <a:ext uri="{FF2B5EF4-FFF2-40B4-BE49-F238E27FC236}">
                <a16:creationId xmlns:a16="http://schemas.microsoft.com/office/drawing/2014/main" id="{1C431ADC-9BD4-0D64-D974-9F1000DFCE8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9AE6DEE-55B6-46CA-BD73-1FBAED3F2F1C}" type="slidenum">
              <a:rPr lang="es-VE" altLang="es-419">
                <a:solidFill>
                  <a:srgbClr val="898989"/>
                </a:solidFill>
                <a:latin typeface="Calibri" panose="020F0502020204030204" pitchFamily="34" charset="0"/>
              </a:rPr>
              <a:pPr eaLnBrk="1" hangingPunct="1"/>
              <a:t>2</a:t>
            </a:fld>
            <a:endParaRPr lang="es-VE" altLang="es-419">
              <a:solidFill>
                <a:srgbClr val="898989"/>
              </a:solidFill>
              <a:latin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075159D9-184E-80D2-0D37-0D76FB94D294}"/>
              </a:ext>
            </a:extLst>
          </p:cNvPr>
          <p:cNvSpPr txBox="1">
            <a:spLocks/>
          </p:cNvSpPr>
          <p:nvPr/>
        </p:nvSpPr>
        <p:spPr>
          <a:xfrm>
            <a:off x="500063" y="1357313"/>
            <a:ext cx="7772400" cy="357187"/>
          </a:xfrm>
          <a:prstGeom prst="rect">
            <a:avLst/>
          </a:prstGeom>
        </p:spPr>
        <p:txBody>
          <a:bodyPr anchor="ctr"/>
          <a:lstStyle/>
          <a:p>
            <a:pPr fontAlgn="auto">
              <a:spcAft>
                <a:spcPts val="0"/>
              </a:spcAft>
              <a:defRPr/>
            </a:pPr>
            <a:r>
              <a:rPr lang="es-VE" sz="2800" b="1">
                <a:latin typeface="+mj-lt"/>
                <a:ea typeface="+mj-ea"/>
                <a:cs typeface="+mj-cs"/>
              </a:rPr>
              <a:t>Resumen Ejecutivo</a:t>
            </a:r>
          </a:p>
        </p:txBody>
      </p:sp>
      <p:sp>
        <p:nvSpPr>
          <p:cNvPr id="8195" name="7 Marcador de contenido">
            <a:extLst>
              <a:ext uri="{FF2B5EF4-FFF2-40B4-BE49-F238E27FC236}">
                <a16:creationId xmlns:a16="http://schemas.microsoft.com/office/drawing/2014/main" id="{5792AF34-B805-2E67-8491-B9A25A0CB910}"/>
              </a:ext>
            </a:extLst>
          </p:cNvPr>
          <p:cNvSpPr>
            <a:spLocks noGrp="1"/>
          </p:cNvSpPr>
          <p:nvPr>
            <p:ph sz="half" idx="1"/>
          </p:nvPr>
        </p:nvSpPr>
        <p:spPr>
          <a:xfrm>
            <a:off x="257175" y="1723644"/>
            <a:ext cx="8258175" cy="4930457"/>
          </a:xfrm>
        </p:spPr>
        <p:txBody>
          <a:bodyPr/>
          <a:lstStyle/>
          <a:p>
            <a:pPr marL="0" indent="0" algn="just" eaLnBrk="1" hangingPunct="1">
              <a:buNone/>
            </a:pPr>
            <a:r>
              <a:rPr lang="es-MX" altLang="es-419" sz="1400">
                <a:solidFill>
                  <a:srgbClr val="00B050"/>
                </a:solidFill>
              </a:rPr>
              <a:t>Problema del negocio que el proyecto solucionará.</a:t>
            </a:r>
          </a:p>
          <a:p>
            <a:pPr marL="0" indent="0" algn="just" eaLnBrk="1" hangingPunct="1">
              <a:buNone/>
            </a:pPr>
            <a:r>
              <a:rPr lang="es-MX" altLang="es-419" sz="1400">
                <a:solidFill>
                  <a:srgbClr val="00B050"/>
                </a:solidFill>
              </a:rPr>
              <a:t>El proyecto atiende el problema crítico del alto índice de reprobación y el impacto académico negativo en los estudiantes de primer semestre de Ingeniería en Computación en el C.U. Zumpango. La causa principal es la falta de conocimiento sobre el proceso administrativo para la baja de materias, lo que impide a los alumnos tomar decisiones estratégicas sobre su carga académica, resultando en un uso ineficiente de los recursos institucionales y un aumento en la desmotivación estudiantil.</a:t>
            </a:r>
            <a:endParaRPr lang="es-MX" altLang="es-419" sz="1400">
              <a:solidFill>
                <a:srgbClr val="00B050"/>
              </a:solidFill>
              <a:ea typeface="Calibri"/>
              <a:cs typeface="Calibri"/>
            </a:endParaRPr>
          </a:p>
          <a:p>
            <a:pPr algn="just" eaLnBrk="1" hangingPunct="1"/>
            <a:endParaRPr lang="es-MX" altLang="es-419" sz="1400">
              <a:solidFill>
                <a:srgbClr val="00B050"/>
              </a:solidFill>
            </a:endParaRPr>
          </a:p>
          <a:p>
            <a:pPr marL="0" indent="0" algn="just" eaLnBrk="1" hangingPunct="1">
              <a:buNone/>
            </a:pPr>
            <a:r>
              <a:rPr lang="es-MX" altLang="es-419" sz="1400">
                <a:solidFill>
                  <a:srgbClr val="00B050"/>
                </a:solidFill>
              </a:rPr>
              <a:t>En que consiste el proyecto (cómo se resolverá el problema).</a:t>
            </a:r>
            <a:endParaRPr lang="es-MX" altLang="es-419" sz="1400">
              <a:solidFill>
                <a:srgbClr val="00B050"/>
              </a:solidFill>
              <a:ea typeface="Calibri"/>
              <a:cs typeface="Calibri"/>
            </a:endParaRPr>
          </a:p>
          <a:p>
            <a:pPr marL="0" indent="0" algn="just" eaLnBrk="1" hangingPunct="1">
              <a:buNone/>
            </a:pPr>
            <a:r>
              <a:rPr lang="es-MX" altLang="es-419" sz="1400">
                <a:solidFill>
                  <a:srgbClr val="00B050"/>
                </a:solidFill>
              </a:rPr>
              <a:t>El proyecto consiste en la implementación de una campaña de comunicación integral y proactiva, diseñada específicamente para el estudiante de nuevo ingreso. La solución se basa en tres pilares:</a:t>
            </a:r>
            <a:endParaRPr lang="es-MX" altLang="es-419" sz="1400">
              <a:solidFill>
                <a:srgbClr val="00B050"/>
              </a:solidFill>
              <a:ea typeface="Calibri"/>
              <a:cs typeface="Calibri"/>
            </a:endParaRPr>
          </a:p>
          <a:p>
            <a:pPr marL="0" indent="0" algn="just" eaLnBrk="1" hangingPunct="1">
              <a:buNone/>
            </a:pPr>
            <a:r>
              <a:rPr lang="es-MX" altLang="es-419" sz="1400">
                <a:solidFill>
                  <a:srgbClr val="00B050"/>
                </a:solidFill>
              </a:rPr>
              <a:t>Centralización de la Información</a:t>
            </a:r>
            <a:endParaRPr lang="es-MX" altLang="es-419" sz="1400">
              <a:solidFill>
                <a:srgbClr val="00B050"/>
              </a:solidFill>
              <a:ea typeface="Calibri"/>
              <a:cs typeface="Calibri"/>
            </a:endParaRPr>
          </a:p>
          <a:p>
            <a:pPr marL="0" indent="0" algn="just" eaLnBrk="1" hangingPunct="1">
              <a:buNone/>
            </a:pPr>
            <a:r>
              <a:rPr lang="es-MX" altLang="es-419" sz="1400">
                <a:solidFill>
                  <a:srgbClr val="00B050"/>
                </a:solidFill>
              </a:rPr>
              <a:t>Creación de Contenido Digital</a:t>
            </a:r>
            <a:endParaRPr lang="es-MX" altLang="es-419" sz="1400">
              <a:solidFill>
                <a:srgbClr val="00B050"/>
              </a:solidFill>
              <a:ea typeface="Calibri"/>
              <a:cs typeface="Calibri"/>
            </a:endParaRPr>
          </a:p>
          <a:p>
            <a:pPr marL="0" indent="0" algn="just" eaLnBrk="1" hangingPunct="1">
              <a:buNone/>
            </a:pPr>
            <a:r>
              <a:rPr lang="es-MX" altLang="es-419" sz="1400">
                <a:solidFill>
                  <a:srgbClr val="00B050"/>
                </a:solidFill>
              </a:rPr>
              <a:t>Difusión Multicanal</a:t>
            </a:r>
            <a:endParaRPr lang="es-MX" altLang="es-419" sz="1400">
              <a:solidFill>
                <a:srgbClr val="00B050"/>
              </a:solidFill>
              <a:ea typeface="Calibri"/>
              <a:cs typeface="Calibri"/>
            </a:endParaRPr>
          </a:p>
          <a:p>
            <a:pPr algn="just" eaLnBrk="1" hangingPunct="1"/>
            <a:endParaRPr lang="es-MX" altLang="es-419" sz="1400">
              <a:solidFill>
                <a:srgbClr val="00B050"/>
              </a:solidFill>
            </a:endParaRPr>
          </a:p>
          <a:p>
            <a:pPr marL="0" indent="0" algn="just" eaLnBrk="1" hangingPunct="1">
              <a:buNone/>
            </a:pPr>
            <a:r>
              <a:rPr lang="es-MX" altLang="es-419" sz="1400">
                <a:solidFill>
                  <a:srgbClr val="00B050"/>
                </a:solidFill>
              </a:rPr>
              <a:t>Justificación de porqué el proyecto es la mejor opción.</a:t>
            </a:r>
            <a:endParaRPr lang="es-MX" altLang="es-419" sz="1400">
              <a:solidFill>
                <a:srgbClr val="00B050"/>
              </a:solidFill>
              <a:ea typeface="Calibri"/>
              <a:cs typeface="Calibri"/>
            </a:endParaRPr>
          </a:p>
          <a:p>
            <a:pPr marL="0" indent="0" algn="just" eaLnBrk="1" hangingPunct="1">
              <a:buNone/>
            </a:pPr>
            <a:r>
              <a:rPr lang="es-MX" altLang="es-419" sz="1400">
                <a:solidFill>
                  <a:srgbClr val="00B050"/>
                </a:solidFill>
              </a:rPr>
              <a:t>Este proyecto fue seleccionado por ser la solución más costo-efectiva, escalable y sostenible en comparación con otras alternativas. A diferencia de las asesorías individuales (que son costosas y difíciles de escalar) o de no hacer nada (que perpetúa el problema), una campaña de comunicación digital tiene un alto impacto con una baja inversión de recursos. Permite alcanzar al 100% de la población objetivo de manera simultánea y los materiales creados son reutilizables para futuras generaciones con un mínimo de actualización, garantizando un beneficio a largo plazo para la institución.</a:t>
            </a:r>
            <a:endParaRPr lang="es-VE" altLang="es-419" sz="1400">
              <a:solidFill>
                <a:srgbClr val="00B050"/>
              </a:solidFill>
            </a:endParaRPr>
          </a:p>
        </p:txBody>
      </p:sp>
      <p:sp>
        <p:nvSpPr>
          <p:cNvPr id="4" name="3 Marcador de número de diapositiva">
            <a:extLst>
              <a:ext uri="{FF2B5EF4-FFF2-40B4-BE49-F238E27FC236}">
                <a16:creationId xmlns:a16="http://schemas.microsoft.com/office/drawing/2014/main" id="{0424679D-3720-0AF7-3C5C-DA2C1966C234}"/>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ECD55D-EC8B-4727-BAEB-B4108AB5DB6C}" type="slidenum">
              <a:rPr lang="es-VE" altLang="es-419">
                <a:solidFill>
                  <a:srgbClr val="898989"/>
                </a:solidFill>
                <a:latin typeface="Calibri" panose="020F0502020204030204" pitchFamily="34" charset="0"/>
              </a:rPr>
              <a:pPr eaLnBrk="1" hangingPunct="1"/>
              <a:t>3</a:t>
            </a:fld>
            <a:endParaRPr lang="es-VE" altLang="es-419">
              <a:solidFill>
                <a:srgbClr val="898989"/>
              </a:solidFill>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00A81FBF-B619-0480-1BC9-6AE2B0520AF2}"/>
              </a:ext>
            </a:extLst>
          </p:cNvPr>
          <p:cNvSpPr txBox="1">
            <a:spLocks/>
          </p:cNvSpPr>
          <p:nvPr/>
        </p:nvSpPr>
        <p:spPr>
          <a:xfrm>
            <a:off x="500063" y="1357313"/>
            <a:ext cx="7772400" cy="357187"/>
          </a:xfrm>
          <a:prstGeom prst="rect">
            <a:avLst/>
          </a:prstGeom>
        </p:spPr>
        <p:txBody>
          <a:bodyPr anchor="ctr"/>
          <a:lstStyle/>
          <a:p>
            <a:pPr fontAlgn="auto">
              <a:spcAft>
                <a:spcPts val="0"/>
              </a:spcAft>
              <a:defRPr/>
            </a:pPr>
            <a:r>
              <a:rPr lang="es-VE" sz="2800" b="1">
                <a:latin typeface="+mj-lt"/>
                <a:ea typeface="+mj-ea"/>
                <a:cs typeface="+mj-cs"/>
              </a:rPr>
              <a:t>Descripción del Problema</a:t>
            </a:r>
          </a:p>
        </p:txBody>
      </p:sp>
      <p:sp>
        <p:nvSpPr>
          <p:cNvPr id="9219" name="7 Marcador de contenido">
            <a:extLst>
              <a:ext uri="{FF2B5EF4-FFF2-40B4-BE49-F238E27FC236}">
                <a16:creationId xmlns:a16="http://schemas.microsoft.com/office/drawing/2014/main" id="{26618026-E0EB-784B-B472-170C496CE7F6}"/>
              </a:ext>
            </a:extLst>
          </p:cNvPr>
          <p:cNvSpPr>
            <a:spLocks noGrp="1"/>
          </p:cNvSpPr>
          <p:nvPr>
            <p:ph sz="half" idx="1"/>
          </p:nvPr>
        </p:nvSpPr>
        <p:spPr>
          <a:xfrm>
            <a:off x="500063" y="1928813"/>
            <a:ext cx="8258175" cy="3714750"/>
          </a:xfrm>
        </p:spPr>
        <p:txBody>
          <a:bodyPr/>
          <a:lstStyle/>
          <a:p>
            <a:pPr eaLnBrk="1" hangingPunct="1"/>
            <a:r>
              <a:rPr lang="es-MX" altLang="es-419" sz="1800">
                <a:solidFill>
                  <a:srgbClr val="00B050"/>
                </a:solidFill>
              </a:rPr>
              <a:t>El problema central que este proyecto busca atender es el alto grado de desinformación y desconocimiento que presentan los alumnos de primer semestre de la carrera de Ingeniería en Computación en el C.U. Zumpango sobre el proceso, fechas y consecuencias de la baja de materias.</a:t>
            </a:r>
          </a:p>
          <a:p>
            <a:pPr eaLnBrk="1" hangingPunct="1"/>
            <a:endParaRPr lang="es-MX" altLang="es-419" sz="1800">
              <a:solidFill>
                <a:srgbClr val="00B050"/>
              </a:solidFill>
            </a:endParaRPr>
          </a:p>
          <a:p>
            <a:pPr eaLnBrk="1" hangingPunct="1"/>
            <a:r>
              <a:rPr lang="es-MX" altLang="es-419" sz="1800">
                <a:solidFill>
                  <a:srgbClr val="00B050"/>
                </a:solidFill>
              </a:rPr>
              <a:t>Este es un problema que impacta directamente en el desempeño académico y la trayectoria escolar del estudiante. La falta de una comunicación clara y oportuna provoca que muchos alumnos, al enfrentar dificultades en una o más asignaturas, no utilicen el recurso de la baja como una herramienta estratégica. En su lugar, continúan en cursos que probablemente reprobarán</a:t>
            </a:r>
            <a:endParaRPr lang="es-VE" altLang="es-419" sz="1800">
              <a:solidFill>
                <a:srgbClr val="00B050"/>
              </a:solidFill>
            </a:endParaRPr>
          </a:p>
        </p:txBody>
      </p:sp>
      <p:sp>
        <p:nvSpPr>
          <p:cNvPr id="6" name="5 Marcador de número de diapositiva">
            <a:extLst>
              <a:ext uri="{FF2B5EF4-FFF2-40B4-BE49-F238E27FC236}">
                <a16:creationId xmlns:a16="http://schemas.microsoft.com/office/drawing/2014/main" id="{2C1DCF6A-C0A4-6D38-90C9-A97D83B650F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53BFC7DA-5DD6-4D5C-A973-7235D532B43B}" type="slidenum">
              <a:rPr lang="es-VE" altLang="es-419">
                <a:solidFill>
                  <a:srgbClr val="898989"/>
                </a:solidFill>
                <a:latin typeface="Calibri" panose="020F0502020204030204" pitchFamily="34" charset="0"/>
              </a:rPr>
              <a:pPr eaLnBrk="1" hangingPunct="1"/>
              <a:t>4</a:t>
            </a:fld>
            <a:endParaRPr lang="es-VE" altLang="es-419">
              <a:solidFill>
                <a:srgbClr val="898989"/>
              </a:solidFill>
              <a:latin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64328D94-7B56-B961-37CB-1E6B06305BC0}"/>
              </a:ext>
            </a:extLst>
          </p:cNvPr>
          <p:cNvSpPr txBox="1">
            <a:spLocks/>
          </p:cNvSpPr>
          <p:nvPr/>
        </p:nvSpPr>
        <p:spPr>
          <a:xfrm>
            <a:off x="457200" y="1357313"/>
            <a:ext cx="7772400" cy="357187"/>
          </a:xfrm>
          <a:prstGeom prst="rect">
            <a:avLst/>
          </a:prstGeom>
        </p:spPr>
        <p:txBody>
          <a:bodyPr anchor="ctr"/>
          <a:lstStyle/>
          <a:p>
            <a:pPr fontAlgn="auto">
              <a:spcAft>
                <a:spcPts val="0"/>
              </a:spcAft>
              <a:defRPr/>
            </a:pPr>
            <a:r>
              <a:rPr lang="es-VE" sz="2800" b="1">
                <a:latin typeface="+mj-lt"/>
                <a:ea typeface="+mj-ea"/>
                <a:cs typeface="+mj-cs"/>
              </a:rPr>
              <a:t>Visión General del Proyecto</a:t>
            </a:r>
          </a:p>
        </p:txBody>
      </p:sp>
      <p:sp>
        <p:nvSpPr>
          <p:cNvPr id="10243" name="7 Marcador de contenido">
            <a:extLst>
              <a:ext uri="{FF2B5EF4-FFF2-40B4-BE49-F238E27FC236}">
                <a16:creationId xmlns:a16="http://schemas.microsoft.com/office/drawing/2014/main" id="{2A91675E-F78E-ED16-47D8-9FCB342FEB67}"/>
              </a:ext>
            </a:extLst>
          </p:cNvPr>
          <p:cNvSpPr>
            <a:spLocks noGrp="1"/>
          </p:cNvSpPr>
          <p:nvPr>
            <p:ph sz="half" idx="1"/>
          </p:nvPr>
        </p:nvSpPr>
        <p:spPr>
          <a:xfrm>
            <a:off x="457200" y="2143125"/>
            <a:ext cx="8258175" cy="1054101"/>
          </a:xfrm>
        </p:spPr>
        <p:txBody>
          <a:bodyPr/>
          <a:lstStyle/>
          <a:p>
            <a:pPr algn="just" eaLnBrk="1" hangingPunct="1">
              <a:buNone/>
            </a:pPr>
            <a:r>
              <a:rPr lang="es-MX" altLang="es-419" sz="1400">
                <a:solidFill>
                  <a:srgbClr val="00B050"/>
                </a:solidFill>
              </a:rPr>
              <a:t>Propósito: El propósito fundamental del proyecto es reducir el índice de reprobación y fortalecer la trayectoria académica de los estudiantes de primer semestre de Ingeniería en Computación. Esto se logrará eliminando el desconocimiento sobre el proceso administrativo para dar de baja materias, transformándolo en una herramienta estratégica accesible para el estudiante.</a:t>
            </a:r>
          </a:p>
          <a:p>
            <a:pPr eaLnBrk="1" hangingPunct="1">
              <a:buNone/>
            </a:pPr>
            <a:endParaRPr lang="es-VE" altLang="es-419" sz="1400">
              <a:solidFill>
                <a:srgbClr val="00B050"/>
              </a:solidFill>
            </a:endParaRPr>
          </a:p>
          <a:p>
            <a:pPr eaLnBrk="1" hangingPunct="1"/>
            <a:endParaRPr lang="es-VE" altLang="es-419" sz="1400">
              <a:solidFill>
                <a:srgbClr val="00B050"/>
              </a:solidFill>
            </a:endParaRPr>
          </a:p>
        </p:txBody>
      </p:sp>
      <p:sp>
        <p:nvSpPr>
          <p:cNvPr id="10" name="1 Título">
            <a:extLst>
              <a:ext uri="{FF2B5EF4-FFF2-40B4-BE49-F238E27FC236}">
                <a16:creationId xmlns:a16="http://schemas.microsoft.com/office/drawing/2014/main" id="{671EFAFC-44DF-1249-77A0-0E39E0B2199B}"/>
              </a:ext>
            </a:extLst>
          </p:cNvPr>
          <p:cNvSpPr txBox="1">
            <a:spLocks/>
          </p:cNvSpPr>
          <p:nvPr/>
        </p:nvSpPr>
        <p:spPr>
          <a:xfrm>
            <a:off x="428625" y="1785938"/>
            <a:ext cx="7772400" cy="357187"/>
          </a:xfrm>
          <a:prstGeom prst="rect">
            <a:avLst/>
          </a:prstGeom>
        </p:spPr>
        <p:txBody>
          <a:bodyPr anchor="ctr"/>
          <a:lstStyle/>
          <a:p>
            <a:pPr fontAlgn="auto">
              <a:spcAft>
                <a:spcPts val="0"/>
              </a:spcAft>
              <a:defRPr/>
            </a:pPr>
            <a:r>
              <a:rPr lang="es-VE" sz="2000" b="1">
                <a:latin typeface="+mj-lt"/>
                <a:ea typeface="+mj-ea"/>
                <a:cs typeface="+mj-cs"/>
              </a:rPr>
              <a:t>Descripción</a:t>
            </a:r>
          </a:p>
        </p:txBody>
      </p:sp>
      <p:sp>
        <p:nvSpPr>
          <p:cNvPr id="12" name="1 Título">
            <a:extLst>
              <a:ext uri="{FF2B5EF4-FFF2-40B4-BE49-F238E27FC236}">
                <a16:creationId xmlns:a16="http://schemas.microsoft.com/office/drawing/2014/main" id="{EFB2B540-5385-BC8D-98DE-F98A9F093C0E}"/>
              </a:ext>
            </a:extLst>
          </p:cNvPr>
          <p:cNvSpPr txBox="1">
            <a:spLocks/>
          </p:cNvSpPr>
          <p:nvPr/>
        </p:nvSpPr>
        <p:spPr>
          <a:xfrm>
            <a:off x="457200" y="3197226"/>
            <a:ext cx="7772400" cy="357187"/>
          </a:xfrm>
          <a:prstGeom prst="rect">
            <a:avLst/>
          </a:prstGeom>
        </p:spPr>
        <p:txBody>
          <a:bodyPr anchor="ctr"/>
          <a:lstStyle/>
          <a:p>
            <a:pPr fontAlgn="auto">
              <a:spcAft>
                <a:spcPts val="0"/>
              </a:spcAft>
              <a:defRPr/>
            </a:pPr>
            <a:r>
              <a:rPr lang="es-VE" sz="2000" b="1">
                <a:latin typeface="+mj-lt"/>
                <a:ea typeface="+mj-ea"/>
                <a:cs typeface="+mj-cs"/>
              </a:rPr>
              <a:t>Objetivos e indicadores de éxito</a:t>
            </a:r>
          </a:p>
        </p:txBody>
      </p:sp>
      <p:graphicFrame>
        <p:nvGraphicFramePr>
          <p:cNvPr id="13" name="12 Tabla">
            <a:extLst>
              <a:ext uri="{FF2B5EF4-FFF2-40B4-BE49-F238E27FC236}">
                <a16:creationId xmlns:a16="http://schemas.microsoft.com/office/drawing/2014/main" id="{140C4D8F-041C-2552-3C1B-F34163ED8A36}"/>
              </a:ext>
            </a:extLst>
          </p:cNvPr>
          <p:cNvGraphicFramePr>
            <a:graphicFrameLocks noGrp="1"/>
          </p:cNvGraphicFramePr>
          <p:nvPr>
            <p:extLst>
              <p:ext uri="{D42A27DB-BD31-4B8C-83A1-F6EECF244321}">
                <p14:modId xmlns:p14="http://schemas.microsoft.com/office/powerpoint/2010/main" val="979657167"/>
              </p:ext>
            </p:extLst>
          </p:nvPr>
        </p:nvGraphicFramePr>
        <p:xfrm>
          <a:off x="670928" y="3639219"/>
          <a:ext cx="7572376" cy="3200595"/>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1857376">
                  <a:extLst>
                    <a:ext uri="{9D8B030D-6E8A-4147-A177-3AD203B41FA5}">
                      <a16:colId xmlns:a16="http://schemas.microsoft.com/office/drawing/2014/main" val="20002"/>
                    </a:ext>
                  </a:extLst>
                </a:gridCol>
              </a:tblGrid>
              <a:tr h="640251">
                <a:tc>
                  <a:txBody>
                    <a:bodyPr/>
                    <a:lstStyle/>
                    <a:p>
                      <a:pPr algn="ctr"/>
                      <a:r>
                        <a:rPr lang="es-VE" sz="1800"/>
                        <a:t>Objetivo</a:t>
                      </a:r>
                    </a:p>
                  </a:txBody>
                  <a:tcPr marL="91439" marR="91439" marT="45732" marB="45732"/>
                </a:tc>
                <a:tc>
                  <a:txBody>
                    <a:bodyPr/>
                    <a:lstStyle/>
                    <a:p>
                      <a:pPr algn="ctr"/>
                      <a:r>
                        <a:rPr lang="es-VE" sz="1800"/>
                        <a:t>Métrica</a:t>
                      </a:r>
                    </a:p>
                  </a:txBody>
                  <a:tcPr marL="91439" marR="91439" marT="45732" marB="45732"/>
                </a:tc>
                <a:tc>
                  <a:txBody>
                    <a:bodyPr/>
                    <a:lstStyle/>
                    <a:p>
                      <a:pPr algn="ctr"/>
                      <a:r>
                        <a:rPr lang="es-VE" sz="1800"/>
                        <a:t>Indicador de éxito</a:t>
                      </a:r>
                    </a:p>
                  </a:txBody>
                  <a:tcPr marL="91439" marR="91439" marT="45732" marB="45732"/>
                </a:tc>
                <a:extLst>
                  <a:ext uri="{0D108BD9-81ED-4DB2-BD59-A6C34878D82A}">
                    <a16:rowId xmlns:a16="http://schemas.microsoft.com/office/drawing/2014/main" val="10000"/>
                  </a:ext>
                </a:extLst>
              </a:tr>
              <a:tr h="1737824">
                <a:tc>
                  <a:txBody>
                    <a:bodyPr/>
                    <a:lstStyle/>
                    <a:p>
                      <a:pPr algn="l"/>
                      <a:r>
                        <a:rPr lang="es-MX"/>
                        <a:t>Garantizar la eficacia de la campaña de comunicación.</a:t>
                      </a:r>
                      <a:endParaRPr lang="es-VE" sz="1800">
                        <a:solidFill>
                          <a:srgbClr val="00B050"/>
                        </a:solidFill>
                      </a:endParaRPr>
                    </a:p>
                  </a:txBody>
                  <a:tcPr marL="91439" marR="91439" marT="45732" marB="45732"/>
                </a:tc>
                <a:tc>
                  <a:txBody>
                    <a:bodyPr/>
                    <a:lstStyle/>
                    <a:p>
                      <a:pPr algn="l"/>
                      <a:r>
                        <a:rPr lang="es-MX"/>
                        <a:t>Porcentaje de estudiantes que confirman haber recibido y entendido la información comunicada.</a:t>
                      </a:r>
                      <a:endParaRPr lang="es-VE" sz="1800" kern="1200">
                        <a:solidFill>
                          <a:srgbClr val="00B050"/>
                        </a:solidFill>
                        <a:latin typeface="+mn-lt"/>
                        <a:ea typeface="+mn-ea"/>
                        <a:cs typeface="+mn-cs"/>
                      </a:endParaRPr>
                    </a:p>
                  </a:txBody>
                  <a:tcPr marL="91439" marR="91439" marT="45732" marB="45732"/>
                </a:tc>
                <a:tc>
                  <a:txBody>
                    <a:bodyPr/>
                    <a:lstStyle/>
                    <a:p>
                      <a:pPr algn="ctr"/>
                      <a:r>
                        <a:rPr lang="es-MX" sz="1800" kern="1200">
                          <a:solidFill>
                            <a:schemeClr val="tx1"/>
                          </a:solidFill>
                          <a:latin typeface="+mn-lt"/>
                          <a:ea typeface="+mn-ea"/>
                          <a:cs typeface="+mn-cs"/>
                        </a:rPr>
                        <a:t>Lograr que más del 90% de los estudiantes encuestados afirmen comprender el proceso de baja gracias a la campaña.</a:t>
                      </a:r>
                      <a:endParaRPr lang="es-VE" sz="1800" kern="1200">
                        <a:solidFill>
                          <a:schemeClr val="tx1"/>
                        </a:solidFill>
                        <a:latin typeface="+mn-lt"/>
                        <a:ea typeface="+mn-ea"/>
                        <a:cs typeface="+mn-cs"/>
                      </a:endParaRPr>
                    </a:p>
                  </a:txBody>
                  <a:tcPr marL="91439" marR="91439" marT="45732" marB="45732"/>
                </a:tc>
                <a:extLst>
                  <a:ext uri="{0D108BD9-81ED-4DB2-BD59-A6C34878D82A}">
                    <a16:rowId xmlns:a16="http://schemas.microsoft.com/office/drawing/2014/main" val="10001"/>
                  </a:ext>
                </a:extLst>
              </a:tr>
            </a:tbl>
          </a:graphicData>
        </a:graphic>
      </p:graphicFrame>
      <p:sp>
        <p:nvSpPr>
          <p:cNvPr id="7" name="6 Marcador de número de diapositiva">
            <a:extLst>
              <a:ext uri="{FF2B5EF4-FFF2-40B4-BE49-F238E27FC236}">
                <a16:creationId xmlns:a16="http://schemas.microsoft.com/office/drawing/2014/main" id="{40DE4C1F-7756-68BE-9023-6B672B4112E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6DAEDA6-39EE-4179-9E4F-632B064A6797}" type="slidenum">
              <a:rPr lang="es-VE" altLang="es-419">
                <a:solidFill>
                  <a:srgbClr val="898989"/>
                </a:solidFill>
                <a:latin typeface="Calibri" panose="020F0502020204030204" pitchFamily="34" charset="0"/>
              </a:rPr>
              <a:pPr eaLnBrk="1" hangingPunct="1"/>
              <a:t>5</a:t>
            </a:fld>
            <a:endParaRPr lang="es-VE" altLang="es-419">
              <a:solidFill>
                <a:srgbClr val="898989"/>
              </a:solidFill>
              <a:latin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92602209-F5E7-987B-2393-53A67AC7FB39}"/>
              </a:ext>
            </a:extLst>
          </p:cNvPr>
          <p:cNvSpPr txBox="1">
            <a:spLocks/>
          </p:cNvSpPr>
          <p:nvPr/>
        </p:nvSpPr>
        <p:spPr>
          <a:xfrm>
            <a:off x="457200" y="1357313"/>
            <a:ext cx="7772400" cy="357187"/>
          </a:xfrm>
          <a:prstGeom prst="rect">
            <a:avLst/>
          </a:prstGeom>
        </p:spPr>
        <p:txBody>
          <a:bodyPr anchor="ctr"/>
          <a:lstStyle/>
          <a:p>
            <a:pPr fontAlgn="auto">
              <a:spcAft>
                <a:spcPts val="0"/>
              </a:spcAft>
              <a:defRPr/>
            </a:pPr>
            <a:r>
              <a:rPr lang="es-VE" sz="2800" b="1">
                <a:latin typeface="+mj-lt"/>
                <a:ea typeface="+mj-ea"/>
                <a:cs typeface="+mj-cs"/>
              </a:rPr>
              <a:t>Visión General del Proyecto</a:t>
            </a:r>
          </a:p>
        </p:txBody>
      </p:sp>
      <p:sp>
        <p:nvSpPr>
          <p:cNvPr id="11267" name="7 Marcador de contenido">
            <a:extLst>
              <a:ext uri="{FF2B5EF4-FFF2-40B4-BE49-F238E27FC236}">
                <a16:creationId xmlns:a16="http://schemas.microsoft.com/office/drawing/2014/main" id="{9B4BA842-DA1F-0A02-44DC-46CF74BE1832}"/>
              </a:ext>
            </a:extLst>
          </p:cNvPr>
          <p:cNvSpPr>
            <a:spLocks noGrp="1"/>
          </p:cNvSpPr>
          <p:nvPr>
            <p:ph sz="half" idx="1"/>
          </p:nvPr>
        </p:nvSpPr>
        <p:spPr>
          <a:xfrm>
            <a:off x="457200" y="2143125"/>
            <a:ext cx="8258175" cy="2037309"/>
          </a:xfrm>
        </p:spPr>
        <p:txBody>
          <a:bodyPr/>
          <a:lstStyle/>
          <a:p>
            <a:pPr marL="0" indent="0" algn="just" eaLnBrk="1" hangingPunct="1">
              <a:buNone/>
            </a:pPr>
            <a:r>
              <a:rPr lang="es-MX" altLang="es-419" sz="1400">
                <a:solidFill>
                  <a:srgbClr val="00B050"/>
                </a:solidFill>
              </a:rPr>
              <a:t>Interés del Estudiante: Se asume que los estudiantes tienen un interés fundamental en su propio desempeño académico. Por lo tanto, si la información sobre la baja de materias se presenta de forma clara, directa y oportuna, mostrarán la disposición para consultarla y utilizarla.</a:t>
            </a:r>
          </a:p>
          <a:p>
            <a:pPr marL="0" indent="0" algn="just" eaLnBrk="1" hangingPunct="1">
              <a:buNone/>
            </a:pPr>
            <a:r>
              <a:rPr lang="es-MX" altLang="es-419" sz="1400">
                <a:solidFill>
                  <a:srgbClr val="00B050"/>
                </a:solidFill>
              </a:rPr>
              <a:t>Colaboración Institucional: Se asume que se contará con el apoyo y la colaboración de la Coordinación de Carrera y del departamento de Control Escolar para validar la precisión de la información (fechas, pasos del proceso, implicaciones) y para utilizar los canales de comunicación oficiales de la facultad.</a:t>
            </a:r>
          </a:p>
          <a:p>
            <a:pPr marL="0" indent="0" algn="just" eaLnBrk="1" hangingPunct="1">
              <a:buNone/>
            </a:pPr>
            <a:r>
              <a:rPr lang="es-MX" altLang="es-419" sz="1400">
                <a:solidFill>
                  <a:srgbClr val="00B050"/>
                </a:solidFill>
              </a:rPr>
              <a:t>Estabilidad del Proceso: Se asume que el procedimiento administrativo y las fechas para la baja de materias, establecidos por la institución para el semestre actual, no sufrirán cambios inesperados una vez que la campaña de comunicación haya sido lanzada.</a:t>
            </a:r>
            <a:endParaRPr lang="es-VE" altLang="es-419" sz="1400">
              <a:solidFill>
                <a:srgbClr val="00B050"/>
              </a:solidFill>
            </a:endParaRPr>
          </a:p>
          <a:p>
            <a:pPr eaLnBrk="1" hangingPunct="1"/>
            <a:endParaRPr lang="es-VE" altLang="es-419" sz="1800">
              <a:solidFill>
                <a:srgbClr val="00B050"/>
              </a:solidFill>
            </a:endParaRPr>
          </a:p>
        </p:txBody>
      </p:sp>
      <p:sp>
        <p:nvSpPr>
          <p:cNvPr id="10" name="1 Título">
            <a:extLst>
              <a:ext uri="{FF2B5EF4-FFF2-40B4-BE49-F238E27FC236}">
                <a16:creationId xmlns:a16="http://schemas.microsoft.com/office/drawing/2014/main" id="{7857E4FE-A7D2-4654-78D3-09175CE2AFA5}"/>
              </a:ext>
            </a:extLst>
          </p:cNvPr>
          <p:cNvSpPr txBox="1">
            <a:spLocks/>
          </p:cNvSpPr>
          <p:nvPr/>
        </p:nvSpPr>
        <p:spPr>
          <a:xfrm>
            <a:off x="428625" y="1785938"/>
            <a:ext cx="7772400" cy="357187"/>
          </a:xfrm>
          <a:prstGeom prst="rect">
            <a:avLst/>
          </a:prstGeom>
        </p:spPr>
        <p:txBody>
          <a:bodyPr anchor="ctr"/>
          <a:lstStyle/>
          <a:p>
            <a:pPr fontAlgn="auto">
              <a:spcAft>
                <a:spcPts val="0"/>
              </a:spcAft>
              <a:defRPr/>
            </a:pPr>
            <a:r>
              <a:rPr lang="es-VE" sz="2000" b="1">
                <a:latin typeface="+mj-lt"/>
                <a:ea typeface="+mj-ea"/>
                <a:cs typeface="+mj-cs"/>
              </a:rPr>
              <a:t>Premisas</a:t>
            </a:r>
          </a:p>
        </p:txBody>
      </p:sp>
      <p:sp>
        <p:nvSpPr>
          <p:cNvPr id="12" name="1 Título">
            <a:extLst>
              <a:ext uri="{FF2B5EF4-FFF2-40B4-BE49-F238E27FC236}">
                <a16:creationId xmlns:a16="http://schemas.microsoft.com/office/drawing/2014/main" id="{BFB7875D-AE0F-AE8E-780A-88E86898C97A}"/>
              </a:ext>
            </a:extLst>
          </p:cNvPr>
          <p:cNvSpPr txBox="1">
            <a:spLocks/>
          </p:cNvSpPr>
          <p:nvPr/>
        </p:nvSpPr>
        <p:spPr>
          <a:xfrm>
            <a:off x="428625" y="4180434"/>
            <a:ext cx="7772400" cy="357188"/>
          </a:xfrm>
          <a:prstGeom prst="rect">
            <a:avLst/>
          </a:prstGeom>
        </p:spPr>
        <p:txBody>
          <a:bodyPr anchor="ctr"/>
          <a:lstStyle/>
          <a:p>
            <a:pPr fontAlgn="auto">
              <a:spcAft>
                <a:spcPts val="0"/>
              </a:spcAft>
              <a:defRPr/>
            </a:pPr>
            <a:r>
              <a:rPr lang="es-VE" sz="2000" b="1">
                <a:latin typeface="+mj-lt"/>
                <a:ea typeface="+mj-ea"/>
                <a:cs typeface="+mj-cs"/>
              </a:rPr>
              <a:t>Restricciones</a:t>
            </a:r>
          </a:p>
        </p:txBody>
      </p:sp>
      <p:sp>
        <p:nvSpPr>
          <p:cNvPr id="11270" name="7 Marcador de contenido">
            <a:extLst>
              <a:ext uri="{FF2B5EF4-FFF2-40B4-BE49-F238E27FC236}">
                <a16:creationId xmlns:a16="http://schemas.microsoft.com/office/drawing/2014/main" id="{7E8211C5-47B9-4200-65E8-B59E3DD6D7C9}"/>
              </a:ext>
            </a:extLst>
          </p:cNvPr>
          <p:cNvSpPr>
            <a:spLocks noGrp="1"/>
          </p:cNvSpPr>
          <p:nvPr>
            <p:ph sz="half" idx="1"/>
          </p:nvPr>
        </p:nvSpPr>
        <p:spPr>
          <a:xfrm>
            <a:off x="457200" y="4609059"/>
            <a:ext cx="8258175" cy="2248941"/>
          </a:xfrm>
        </p:spPr>
        <p:txBody>
          <a:bodyPr/>
          <a:lstStyle/>
          <a:p>
            <a:pPr marL="0" indent="0" algn="just" eaLnBrk="1" hangingPunct="1">
              <a:buNone/>
            </a:pPr>
            <a:r>
              <a:rPr lang="es-MX" altLang="es-419" sz="1400">
                <a:solidFill>
                  <a:srgbClr val="00B050"/>
                </a:solidFill>
              </a:rPr>
              <a:t>Tiempo: El proyecto está estrictamente limitado por el calendario académico. La campaña informativa debe estar completamente implementada antes de la fecha límite oficial para la baja de materias. Esta fecha es inamovible y define el ciclo de vida total del proyecto.</a:t>
            </a:r>
          </a:p>
          <a:p>
            <a:pPr marL="0" indent="0" algn="just" eaLnBrk="1" hangingPunct="1">
              <a:buNone/>
            </a:pPr>
            <a:r>
              <a:rPr lang="es-MX" altLang="es-419" sz="1400">
                <a:solidFill>
                  <a:srgbClr val="00B050"/>
                </a:solidFill>
              </a:rPr>
              <a:t>Presupuesto: El proyecto se ejecutará con un presupuesto nulo o extremadamente limitado. Todas las herramientas, software y plataformas a utilizar deben ser de carácter gratuito o estar cubiertas por las licencias existentes de la universidad. No se contempla presupuesto para publicidad pagada o contratación de servicios externos.</a:t>
            </a:r>
          </a:p>
          <a:p>
            <a:pPr marL="0" indent="0" algn="just" eaLnBrk="1" hangingPunct="1">
              <a:buNone/>
            </a:pPr>
            <a:r>
              <a:rPr lang="es-MX" altLang="es-419" sz="1400">
                <a:solidFill>
                  <a:srgbClr val="00B050"/>
                </a:solidFill>
              </a:rPr>
              <a:t>Recursos Técnicos: La calidad y el alcance de los materiales a producir (infografías, videos, etc.) están restringidos por las habilidades técnicas del equipo y por el software disponible. No se cuenta con equipo de producción audiovisual profesional ni con licencias de software de diseño especializado.</a:t>
            </a:r>
            <a:endParaRPr lang="es-VE" altLang="es-419" sz="1400">
              <a:solidFill>
                <a:srgbClr val="00B050"/>
              </a:solidFill>
            </a:endParaRPr>
          </a:p>
          <a:p>
            <a:pPr eaLnBrk="1" hangingPunct="1"/>
            <a:endParaRPr lang="es-VE" altLang="es-419" sz="1800">
              <a:solidFill>
                <a:srgbClr val="00B050"/>
              </a:solidFill>
            </a:endParaRPr>
          </a:p>
        </p:txBody>
      </p:sp>
      <p:sp>
        <p:nvSpPr>
          <p:cNvPr id="15" name="14 Marcador de número de diapositiva">
            <a:extLst>
              <a:ext uri="{FF2B5EF4-FFF2-40B4-BE49-F238E27FC236}">
                <a16:creationId xmlns:a16="http://schemas.microsoft.com/office/drawing/2014/main" id="{5D21A48F-0585-57AB-9039-0EFB97E0D57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9CBE144-D05F-4F1A-904C-07DC87F9D538}" type="slidenum">
              <a:rPr lang="es-VE" altLang="es-419">
                <a:solidFill>
                  <a:srgbClr val="898989"/>
                </a:solidFill>
                <a:latin typeface="Calibri" panose="020F0502020204030204" pitchFamily="34" charset="0"/>
              </a:rPr>
              <a:pPr eaLnBrk="1" hangingPunct="1"/>
              <a:t>6</a:t>
            </a:fld>
            <a:endParaRPr lang="es-VE" altLang="es-419">
              <a:solidFill>
                <a:srgbClr val="898989"/>
              </a:solidFill>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F3478FBF-40E7-F568-CC64-B91A83A1BAF8}"/>
              </a:ext>
            </a:extLst>
          </p:cNvPr>
          <p:cNvSpPr txBox="1">
            <a:spLocks/>
          </p:cNvSpPr>
          <p:nvPr/>
        </p:nvSpPr>
        <p:spPr>
          <a:xfrm>
            <a:off x="500063" y="1357313"/>
            <a:ext cx="8258175" cy="357187"/>
          </a:xfrm>
          <a:prstGeom prst="rect">
            <a:avLst/>
          </a:prstGeom>
        </p:spPr>
        <p:txBody>
          <a:bodyPr anchor="ctr"/>
          <a:lstStyle/>
          <a:p>
            <a:pPr fontAlgn="auto">
              <a:spcAft>
                <a:spcPts val="0"/>
              </a:spcAft>
              <a:defRPr/>
            </a:pPr>
            <a:r>
              <a:rPr lang="es-VE" sz="2800" b="1">
                <a:latin typeface="+mj-lt"/>
                <a:ea typeface="+mj-ea"/>
                <a:cs typeface="+mj-cs"/>
              </a:rPr>
              <a:t>Alineación del Proyecto con los objetivos Estratégicos</a:t>
            </a:r>
          </a:p>
        </p:txBody>
      </p:sp>
      <p:graphicFrame>
        <p:nvGraphicFramePr>
          <p:cNvPr id="4" name="3 Tabla">
            <a:extLst>
              <a:ext uri="{FF2B5EF4-FFF2-40B4-BE49-F238E27FC236}">
                <a16:creationId xmlns:a16="http://schemas.microsoft.com/office/drawing/2014/main" id="{0EA46979-6A63-91AE-B4C9-47347F00E5A9}"/>
              </a:ext>
            </a:extLst>
          </p:cNvPr>
          <p:cNvGraphicFramePr>
            <a:graphicFrameLocks noGrp="1"/>
          </p:cNvGraphicFramePr>
          <p:nvPr>
            <p:extLst>
              <p:ext uri="{D42A27DB-BD31-4B8C-83A1-F6EECF244321}">
                <p14:modId xmlns:p14="http://schemas.microsoft.com/office/powerpoint/2010/main" val="1645343431"/>
              </p:ext>
            </p:extLst>
          </p:nvPr>
        </p:nvGraphicFramePr>
        <p:xfrm>
          <a:off x="542925" y="3182938"/>
          <a:ext cx="8072438" cy="2164149"/>
        </p:xfrm>
        <a:graphic>
          <a:graphicData uri="http://schemas.openxmlformats.org/drawingml/2006/table">
            <a:tbl>
              <a:tblPr firstRow="1" bandRow="1">
                <a:tableStyleId>{5C22544A-7EE6-4342-B048-85BDC9FD1C3A}</a:tableStyleId>
              </a:tblPr>
              <a:tblGrid>
                <a:gridCol w="2428875">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2928938">
                  <a:extLst>
                    <a:ext uri="{9D8B030D-6E8A-4147-A177-3AD203B41FA5}">
                      <a16:colId xmlns:a16="http://schemas.microsoft.com/office/drawing/2014/main" val="20002"/>
                    </a:ext>
                  </a:extLst>
                </a:gridCol>
              </a:tblGrid>
              <a:tr h="365815">
                <a:tc>
                  <a:txBody>
                    <a:bodyPr/>
                    <a:lstStyle/>
                    <a:p>
                      <a:pPr algn="ctr"/>
                      <a:r>
                        <a:rPr lang="es-VE" sz="1800"/>
                        <a:t>Plan</a:t>
                      </a:r>
                      <a:r>
                        <a:rPr lang="es-VE" sz="1800" baseline="0"/>
                        <a:t> Estratégico</a:t>
                      </a:r>
                      <a:endParaRPr lang="es-VE" sz="1800"/>
                    </a:p>
                  </a:txBody>
                  <a:tcPr marL="91439" marR="91439" marT="45727" marB="45727"/>
                </a:tc>
                <a:tc>
                  <a:txBody>
                    <a:bodyPr/>
                    <a:lstStyle/>
                    <a:p>
                      <a:pPr algn="ctr"/>
                      <a:r>
                        <a:rPr lang="es-VE" sz="1800"/>
                        <a:t>Objetivo Estratégico</a:t>
                      </a:r>
                    </a:p>
                  </a:txBody>
                  <a:tcPr marL="91439" marR="91439" marT="45727" marB="45727"/>
                </a:tc>
                <a:tc>
                  <a:txBody>
                    <a:bodyPr/>
                    <a:lstStyle/>
                    <a:p>
                      <a:pPr algn="ctr"/>
                      <a:r>
                        <a:rPr lang="es-VE" sz="1800"/>
                        <a:t>Relación con el Proyecto</a:t>
                      </a:r>
                    </a:p>
                  </a:txBody>
                  <a:tcPr marL="91439" marR="91439" marT="45727" marB="45727"/>
                </a:tc>
                <a:extLst>
                  <a:ext uri="{0D108BD9-81ED-4DB2-BD59-A6C34878D82A}">
                    <a16:rowId xmlns:a16="http://schemas.microsoft.com/office/drawing/2014/main" val="10000"/>
                  </a:ext>
                </a:extLst>
              </a:tr>
              <a:tr h="1737622">
                <a:tc>
                  <a:txBody>
                    <a:bodyPr/>
                    <a:lstStyle/>
                    <a:p>
                      <a:pPr lvl="0">
                        <a:lnSpc>
                          <a:spcPts val="1875"/>
                        </a:lnSpc>
                        <a:buNone/>
                      </a:pPr>
                      <a:r>
                        <a:rPr lang="es-MX" sz="1600" b="0" i="0" u="none" strike="noStrike" noProof="0">
                          <a:effectLst/>
                          <a:latin typeface="quote-cjk-patch"/>
                        </a:rPr>
                        <a:t>Plan de campaña informativa con el correo institucional del Centro Universitario.</a:t>
                      </a:r>
                      <a:endParaRPr lang="es-MX" sz="1600">
                        <a:latin typeface="quote-cjk-patch"/>
                      </a:endParaRPr>
                    </a:p>
                  </a:txBody>
                  <a:tcPr marR="152400" marT="95250" marB="95250" anchor="ctr"/>
                </a:tc>
                <a:tc>
                  <a:txBody>
                    <a:bodyPr/>
                    <a:lstStyle/>
                    <a:p>
                      <a:pPr lvl="0">
                        <a:lnSpc>
                          <a:spcPts val="1875"/>
                        </a:lnSpc>
                        <a:buNone/>
                      </a:pPr>
                      <a:r>
                        <a:rPr lang="es-MX" sz="1600" b="0" i="0" u="none" strike="noStrike" baseline="0" noProof="0">
                          <a:solidFill>
                            <a:srgbClr val="000000"/>
                          </a:solidFill>
                          <a:effectLst/>
                          <a:latin typeface="quote-cjk-patch"/>
                        </a:rPr>
                        <a:t>Reducir el alto índice de rezago en la licenciatura por desconocimiento de baja de materias en alumnos de primer semestre</a:t>
                      </a:r>
                    </a:p>
                  </a:txBody>
                  <a:tcPr marL="152400" marT="95250" marB="95250" anchor="ctr"/>
                </a:tc>
                <a:tc>
                  <a:txBody>
                    <a:bodyPr/>
                    <a:lstStyle/>
                    <a:p>
                      <a:pPr lvl="0" algn="l">
                        <a:buNone/>
                      </a:pPr>
                      <a:r>
                        <a:rPr lang="es-VE" sz="1600" b="0" i="0" u="none" strike="noStrike" kern="1200" baseline="0" noProof="0">
                          <a:solidFill>
                            <a:schemeClr val="tx1"/>
                          </a:solidFill>
                          <a:latin typeface="quote-cjk-patch"/>
                        </a:rPr>
                        <a:t>El proyecto contribuye directamente al objetivo de proporcionar a los estudiantes una herramienta para evitar la reprobación, uno de los principales factores de rezago escolar.</a:t>
                      </a:r>
                      <a:endParaRPr lang="es-MX" sz="1600" b="0" i="0" u="none" strike="noStrike" noProof="0">
                        <a:solidFill>
                          <a:schemeClr val="tx1"/>
                        </a:solidFill>
                        <a:latin typeface="quote-cjk-patch"/>
                      </a:endParaRPr>
                    </a:p>
                  </a:txBody>
                  <a:tcPr marL="91439" marR="91439" marT="45727" marB="45727"/>
                </a:tc>
                <a:extLst>
                  <a:ext uri="{0D108BD9-81ED-4DB2-BD59-A6C34878D82A}">
                    <a16:rowId xmlns:a16="http://schemas.microsoft.com/office/drawing/2014/main" val="10001"/>
                  </a:ext>
                </a:extLst>
              </a:tr>
            </a:tbl>
          </a:graphicData>
        </a:graphic>
      </p:graphicFrame>
      <p:sp>
        <p:nvSpPr>
          <p:cNvPr id="5" name="7 Marcador de contenido">
            <a:extLst>
              <a:ext uri="{FF2B5EF4-FFF2-40B4-BE49-F238E27FC236}">
                <a16:creationId xmlns:a16="http://schemas.microsoft.com/office/drawing/2014/main" id="{C3C26978-E2FC-B341-AB2D-566B8C74FB2A}"/>
              </a:ext>
            </a:extLst>
          </p:cNvPr>
          <p:cNvSpPr>
            <a:spLocks noGrp="1"/>
          </p:cNvSpPr>
          <p:nvPr>
            <p:ph sz="half" idx="1"/>
          </p:nvPr>
        </p:nvSpPr>
        <p:spPr>
          <a:xfrm>
            <a:off x="500063" y="1785938"/>
            <a:ext cx="8258175" cy="1285875"/>
          </a:xfrm>
        </p:spPr>
        <p:txBody>
          <a:bodyPr/>
          <a:lstStyle/>
          <a:p>
            <a:pPr eaLnBrk="1" hangingPunct="1">
              <a:buFont typeface="Arial" charset="0"/>
              <a:buChar char="•"/>
              <a:defRPr/>
            </a:pPr>
            <a:r>
              <a:rPr lang="es-VE" sz="1800" b="1">
                <a:solidFill>
                  <a:srgbClr val="00B050"/>
                </a:solidFill>
                <a:ea typeface="Calibri"/>
                <a:cs typeface="Calibri"/>
              </a:rPr>
              <a:t>Proporcionar un apoyo preventivo que ayude a los estudiantes a gestionar mejor su carga académica, evitando reprobar materias innecesariamente y contribuyendo a mejorar los índices de retención, desempeño académico y permanencia en la carrera.</a:t>
            </a:r>
          </a:p>
        </p:txBody>
      </p:sp>
      <p:sp>
        <p:nvSpPr>
          <p:cNvPr id="6" name="5 Marcador de número de diapositiva">
            <a:extLst>
              <a:ext uri="{FF2B5EF4-FFF2-40B4-BE49-F238E27FC236}">
                <a16:creationId xmlns:a16="http://schemas.microsoft.com/office/drawing/2014/main" id="{7A2213F6-6514-89B6-C2D6-108075B22C1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F3B371B-2510-4A60-97C0-90042EF2ECD5}" type="slidenum">
              <a:rPr lang="es-VE" altLang="es-419">
                <a:solidFill>
                  <a:srgbClr val="898989"/>
                </a:solidFill>
                <a:latin typeface="Calibri" panose="020F0502020204030204" pitchFamily="34" charset="0"/>
              </a:rPr>
              <a:pPr eaLnBrk="1" hangingPunct="1"/>
              <a:t>7</a:t>
            </a:fld>
            <a:endParaRPr lang="es-VE" altLang="es-419">
              <a:solidFill>
                <a:srgbClr val="898989"/>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BECB7B71-DBEE-FFD3-70DC-75377F7B2EEC}"/>
              </a:ext>
            </a:extLst>
          </p:cNvPr>
          <p:cNvSpPr txBox="1">
            <a:spLocks/>
          </p:cNvSpPr>
          <p:nvPr/>
        </p:nvSpPr>
        <p:spPr>
          <a:xfrm>
            <a:off x="500063" y="1357313"/>
            <a:ext cx="8258175" cy="357187"/>
          </a:xfrm>
          <a:prstGeom prst="rect">
            <a:avLst/>
          </a:prstGeom>
        </p:spPr>
        <p:txBody>
          <a:bodyPr anchor="ctr"/>
          <a:lstStyle/>
          <a:p>
            <a:pPr fontAlgn="auto">
              <a:spcAft>
                <a:spcPts val="0"/>
              </a:spcAft>
              <a:defRPr/>
            </a:pPr>
            <a:r>
              <a:rPr lang="es-VE" sz="2800" b="1">
                <a:latin typeface="+mj-lt"/>
                <a:ea typeface="+mj-ea"/>
                <a:cs typeface="+mj-cs"/>
              </a:rPr>
              <a:t>Análisis Costo Beneficio</a:t>
            </a:r>
          </a:p>
        </p:txBody>
      </p:sp>
      <p:sp>
        <p:nvSpPr>
          <p:cNvPr id="4" name="7 Marcador de contenido">
            <a:extLst>
              <a:ext uri="{FF2B5EF4-FFF2-40B4-BE49-F238E27FC236}">
                <a16:creationId xmlns:a16="http://schemas.microsoft.com/office/drawing/2014/main" id="{3F8F1B85-907F-1AB0-B4A9-7674DEDCD4B6}"/>
              </a:ext>
            </a:extLst>
          </p:cNvPr>
          <p:cNvSpPr>
            <a:spLocks noGrp="1"/>
          </p:cNvSpPr>
          <p:nvPr>
            <p:ph sz="half" idx="1"/>
          </p:nvPr>
        </p:nvSpPr>
        <p:spPr>
          <a:xfrm>
            <a:off x="500063" y="1785938"/>
            <a:ext cx="8258175" cy="1285875"/>
          </a:xfrm>
        </p:spPr>
        <p:txBody>
          <a:bodyPr/>
          <a:lstStyle/>
          <a:p>
            <a:pPr marL="0" indent="0">
              <a:buNone/>
              <a:defRPr/>
            </a:pPr>
            <a:r>
              <a:rPr lang="es-VE" sz="1800">
                <a:solidFill>
                  <a:srgbClr val="00B050"/>
                </a:solidFill>
              </a:rPr>
              <a:t>El costo se estima en recursos ya existentes de coordinación, plataforma de diseño y por otra parte igualmente agregaría un costo en material de publicidad(posters, </a:t>
            </a:r>
            <a:r>
              <a:rPr lang="es-VE" sz="1800" err="1">
                <a:solidFill>
                  <a:srgbClr val="00B050"/>
                </a:solidFill>
              </a:rPr>
              <a:t>flyers</a:t>
            </a:r>
            <a:r>
              <a:rPr lang="es-VE" sz="1800">
                <a:solidFill>
                  <a:srgbClr val="00B050"/>
                </a:solidFill>
              </a:rPr>
              <a:t>).</a:t>
            </a:r>
            <a:endParaRPr lang="es-VE" sz="1800">
              <a:ea typeface="Calibri"/>
              <a:cs typeface="Calibri"/>
            </a:endParaRPr>
          </a:p>
          <a:p>
            <a:pPr marL="0" indent="0" eaLnBrk="1" hangingPunct="1">
              <a:buFont typeface="Arial" charset="0"/>
              <a:buNone/>
              <a:defRPr/>
            </a:pPr>
            <a:endParaRPr lang="es-VE" sz="1800">
              <a:solidFill>
                <a:srgbClr val="00B050"/>
              </a:solidFill>
            </a:endParaRPr>
          </a:p>
          <a:p>
            <a:pPr eaLnBrk="1" hangingPunct="1">
              <a:buFont typeface="Arial" charset="0"/>
              <a:buChar char="•"/>
              <a:defRPr/>
            </a:pPr>
            <a:endParaRPr lang="es-VE" sz="1800">
              <a:solidFill>
                <a:srgbClr val="00B050"/>
              </a:solidFill>
            </a:endParaRPr>
          </a:p>
          <a:p>
            <a:pPr eaLnBrk="1" hangingPunct="1">
              <a:buFont typeface="Arial" charset="0"/>
              <a:buChar char="•"/>
              <a:defRPr/>
            </a:pPr>
            <a:endParaRPr lang="es-VE" sz="1800">
              <a:solidFill>
                <a:srgbClr val="00B050"/>
              </a:solidFill>
            </a:endParaRPr>
          </a:p>
        </p:txBody>
      </p:sp>
      <p:graphicFrame>
        <p:nvGraphicFramePr>
          <p:cNvPr id="5" name="4 Tabla">
            <a:extLst>
              <a:ext uri="{FF2B5EF4-FFF2-40B4-BE49-F238E27FC236}">
                <a16:creationId xmlns:a16="http://schemas.microsoft.com/office/drawing/2014/main" id="{6D85829E-EE54-AB47-08B9-93B9436B3A49}"/>
              </a:ext>
            </a:extLst>
          </p:cNvPr>
          <p:cNvGraphicFramePr>
            <a:graphicFrameLocks noGrp="1"/>
          </p:cNvGraphicFramePr>
          <p:nvPr>
            <p:extLst>
              <p:ext uri="{D42A27DB-BD31-4B8C-83A1-F6EECF244321}">
                <p14:modId xmlns:p14="http://schemas.microsoft.com/office/powerpoint/2010/main" val="1229309655"/>
              </p:ext>
            </p:extLst>
          </p:nvPr>
        </p:nvGraphicFramePr>
        <p:xfrm>
          <a:off x="542925" y="3500438"/>
          <a:ext cx="8172450" cy="2783840"/>
        </p:xfrm>
        <a:graphic>
          <a:graphicData uri="http://schemas.openxmlformats.org/drawingml/2006/table">
            <a:tbl>
              <a:tblPr firstRow="1" bandRow="1">
                <a:tableStyleId>{5C22544A-7EE6-4342-B048-85BDC9FD1C3A}</a:tableStyleId>
              </a:tblPr>
              <a:tblGrid>
                <a:gridCol w="5815021">
                  <a:extLst>
                    <a:ext uri="{9D8B030D-6E8A-4147-A177-3AD203B41FA5}">
                      <a16:colId xmlns:a16="http://schemas.microsoft.com/office/drawing/2014/main" val="20000"/>
                    </a:ext>
                  </a:extLst>
                </a:gridCol>
                <a:gridCol w="2357429">
                  <a:extLst>
                    <a:ext uri="{9D8B030D-6E8A-4147-A177-3AD203B41FA5}">
                      <a16:colId xmlns:a16="http://schemas.microsoft.com/office/drawing/2014/main" val="20001"/>
                    </a:ext>
                  </a:extLst>
                </a:gridCol>
              </a:tblGrid>
              <a:tr h="357190">
                <a:tc>
                  <a:txBody>
                    <a:bodyPr/>
                    <a:lstStyle/>
                    <a:p>
                      <a:pPr algn="ctr"/>
                      <a:r>
                        <a:rPr lang="es-VE"/>
                        <a:t>Descripción</a:t>
                      </a:r>
                    </a:p>
                  </a:txBody>
                  <a:tcPr marL="91439" marR="91439"/>
                </a:tc>
                <a:tc>
                  <a:txBody>
                    <a:bodyPr/>
                    <a:lstStyle/>
                    <a:p>
                      <a:pPr algn="ctr"/>
                      <a:r>
                        <a:rPr lang="es-VE"/>
                        <a:t>Costos (Primer año)</a:t>
                      </a:r>
                    </a:p>
                  </a:txBody>
                  <a:tcPr marL="91439" marR="91439"/>
                </a:tc>
                <a:extLst>
                  <a:ext uri="{0D108BD9-81ED-4DB2-BD59-A6C34878D82A}">
                    <a16:rowId xmlns:a16="http://schemas.microsoft.com/office/drawing/2014/main" val="10000"/>
                  </a:ext>
                </a:extLst>
              </a:tr>
              <a:tr h="357190">
                <a:tc>
                  <a:txBody>
                    <a:bodyPr/>
                    <a:lstStyle/>
                    <a:p>
                      <a:pPr algn="l"/>
                      <a:r>
                        <a:rPr lang="es-MX"/>
                        <a:t>Diseño y desarrollo de materiales digitales (usando software gratuito/institucional).</a:t>
                      </a:r>
                      <a:endParaRPr lang="es-VE">
                        <a:solidFill>
                          <a:srgbClr val="00B050"/>
                        </a:solidFill>
                      </a:endParaRPr>
                    </a:p>
                  </a:txBody>
                  <a:tcPr marL="91439" marR="91439"/>
                </a:tc>
                <a:tc>
                  <a:txBody>
                    <a:bodyPr/>
                    <a:lstStyle/>
                    <a:p>
                      <a:pPr algn="l"/>
                      <a:r>
                        <a:rPr lang="es-VE" sz="1800" kern="1200">
                          <a:solidFill>
                            <a:schemeClr val="tx1"/>
                          </a:solidFill>
                          <a:latin typeface="+mn-lt"/>
                          <a:ea typeface="+mn-ea"/>
                          <a:cs typeface="+mn-cs"/>
                        </a:rPr>
                        <a:t>$0 MXN</a:t>
                      </a:r>
                    </a:p>
                  </a:txBody>
                  <a:tcPr marL="91439" marR="91439"/>
                </a:tc>
                <a:extLst>
                  <a:ext uri="{0D108BD9-81ED-4DB2-BD59-A6C34878D82A}">
                    <a16:rowId xmlns:a16="http://schemas.microsoft.com/office/drawing/2014/main" val="10001"/>
                  </a:ext>
                </a:extLst>
              </a:tr>
              <a:tr h="357190">
                <a:tc>
                  <a:txBody>
                    <a:bodyPr/>
                    <a:lstStyle/>
                    <a:p>
                      <a:pPr>
                        <a:lnSpc>
                          <a:spcPts val="1875"/>
                        </a:lnSpc>
                        <a:buNone/>
                      </a:pPr>
                      <a:r>
                        <a:rPr lang="es-MX"/>
                        <a:t>Campaña usando correo institucional (usando las cuentas institucionales existentes).</a:t>
                      </a:r>
                      <a:endParaRPr lang="es-MX" b="0">
                        <a:effectLst/>
                        <a:latin typeface="quote-cjk-patch"/>
                      </a:endParaRPr>
                    </a:p>
                  </a:txBody>
                  <a:tcPr marR="152400" marT="95250" marB="95250" anchor="ctr"/>
                </a:tc>
                <a:tc>
                  <a:txBody>
                    <a:bodyPr/>
                    <a:lstStyle/>
                    <a:p>
                      <a:pPr>
                        <a:lnSpc>
                          <a:spcPts val="1875"/>
                        </a:lnSpc>
                        <a:buNone/>
                      </a:pPr>
                      <a:r>
                        <a:rPr lang="es-MX" b="0">
                          <a:effectLst/>
                          <a:latin typeface="quote-cjk-patch"/>
                        </a:rPr>
                        <a:t>$0 MXN</a:t>
                      </a:r>
                    </a:p>
                  </a:txBody>
                  <a:tcPr marL="152400" marT="95250" marB="95250" anchor="ctr"/>
                </a:tc>
                <a:extLst>
                  <a:ext uri="{0D108BD9-81ED-4DB2-BD59-A6C34878D82A}">
                    <a16:rowId xmlns:a16="http://schemas.microsoft.com/office/drawing/2014/main" val="10002"/>
                  </a:ext>
                </a:extLst>
              </a:tr>
              <a:tr h="357190">
                <a:tc>
                  <a:txBody>
                    <a:bodyPr/>
                    <a:lstStyle/>
                    <a:p>
                      <a:pPr>
                        <a:lnSpc>
                          <a:spcPts val="1875"/>
                        </a:lnSpc>
                        <a:buNone/>
                      </a:pPr>
                      <a:r>
                        <a:rPr lang="es-MX"/>
                        <a:t>Impresión de materiales físicos de apoyo (pósters, flyers para la semana de inducción).</a:t>
                      </a:r>
                      <a:endParaRPr lang="es-MX" b="0">
                        <a:effectLst/>
                        <a:latin typeface="quote-cjk-patch"/>
                      </a:endParaRPr>
                    </a:p>
                  </a:txBody>
                  <a:tcPr marR="152400" marT="95250" marB="95250" anchor="ctr"/>
                </a:tc>
                <a:tc>
                  <a:txBody>
                    <a:bodyPr/>
                    <a:lstStyle/>
                    <a:p>
                      <a:pPr>
                        <a:lnSpc>
                          <a:spcPts val="1875"/>
                        </a:lnSpc>
                        <a:buNone/>
                      </a:pPr>
                      <a:r>
                        <a:rPr lang="es-MX" b="0">
                          <a:effectLst/>
                          <a:latin typeface="quote-cjk-patch"/>
                        </a:rPr>
                        <a:t>$500 MXN</a:t>
                      </a:r>
                    </a:p>
                  </a:txBody>
                  <a:tcPr marL="152400" marT="95250" marB="95250" anchor="ctr"/>
                </a:tc>
                <a:extLst>
                  <a:ext uri="{0D108BD9-81ED-4DB2-BD59-A6C34878D82A}">
                    <a16:rowId xmlns:a16="http://schemas.microsoft.com/office/drawing/2014/main" val="10003"/>
                  </a:ext>
                </a:extLst>
              </a:tr>
              <a:tr h="357190">
                <a:tc>
                  <a:txBody>
                    <a:bodyPr/>
                    <a:lstStyle/>
                    <a:p>
                      <a:pPr>
                        <a:lnSpc>
                          <a:spcPts val="1875"/>
                        </a:lnSpc>
                        <a:buNone/>
                      </a:pPr>
                      <a:r>
                        <a:rPr lang="es-MX" b="1">
                          <a:effectLst/>
                          <a:latin typeface="quote-cjk-patch"/>
                        </a:rPr>
                        <a:t>Total de Costos</a:t>
                      </a:r>
                      <a:endParaRPr lang="es-MX" b="0">
                        <a:effectLst/>
                        <a:latin typeface="quote-cjk-patch"/>
                      </a:endParaRPr>
                    </a:p>
                  </a:txBody>
                  <a:tcPr marR="152400" marT="95250" marB="95250" anchor="ctr"/>
                </a:tc>
                <a:tc>
                  <a:txBody>
                    <a:bodyPr/>
                    <a:lstStyle/>
                    <a:p>
                      <a:pPr>
                        <a:lnSpc>
                          <a:spcPts val="1875"/>
                        </a:lnSpc>
                        <a:buNone/>
                      </a:pPr>
                      <a:r>
                        <a:rPr lang="es-MX" b="1">
                          <a:effectLst/>
                          <a:latin typeface="quote-cjk-patch"/>
                        </a:rPr>
                        <a:t>$500 MXN</a:t>
                      </a:r>
                      <a:endParaRPr lang="es-MX" b="0">
                        <a:effectLst/>
                        <a:latin typeface="quote-cjk-patch"/>
                      </a:endParaRPr>
                    </a:p>
                  </a:txBody>
                  <a:tcPr marL="152400" marT="95250" marB="95250" anchor="ctr"/>
                </a:tc>
                <a:extLst>
                  <a:ext uri="{0D108BD9-81ED-4DB2-BD59-A6C34878D82A}">
                    <a16:rowId xmlns:a16="http://schemas.microsoft.com/office/drawing/2014/main" val="10005"/>
                  </a:ext>
                </a:extLst>
              </a:tr>
            </a:tbl>
          </a:graphicData>
        </a:graphic>
      </p:graphicFrame>
      <p:sp>
        <p:nvSpPr>
          <p:cNvPr id="6" name="1 Título">
            <a:extLst>
              <a:ext uri="{FF2B5EF4-FFF2-40B4-BE49-F238E27FC236}">
                <a16:creationId xmlns:a16="http://schemas.microsoft.com/office/drawing/2014/main" id="{96C4A822-34F5-4234-6DB4-D4C87EF01BC4}"/>
              </a:ext>
            </a:extLst>
          </p:cNvPr>
          <p:cNvSpPr txBox="1">
            <a:spLocks/>
          </p:cNvSpPr>
          <p:nvPr/>
        </p:nvSpPr>
        <p:spPr>
          <a:xfrm>
            <a:off x="514350" y="3000375"/>
            <a:ext cx="7772400" cy="357188"/>
          </a:xfrm>
          <a:prstGeom prst="rect">
            <a:avLst/>
          </a:prstGeom>
        </p:spPr>
        <p:txBody>
          <a:bodyPr anchor="ctr"/>
          <a:lstStyle/>
          <a:p>
            <a:pPr fontAlgn="auto">
              <a:spcAft>
                <a:spcPts val="0"/>
              </a:spcAft>
              <a:defRPr/>
            </a:pPr>
            <a:r>
              <a:rPr lang="es-VE" sz="2000" b="1">
                <a:latin typeface="+mj-lt"/>
                <a:ea typeface="+mj-ea"/>
                <a:cs typeface="+mj-cs"/>
              </a:rPr>
              <a:t>Costos</a:t>
            </a:r>
          </a:p>
        </p:txBody>
      </p:sp>
      <p:sp>
        <p:nvSpPr>
          <p:cNvPr id="7" name="6 Marcador de número de diapositiva">
            <a:extLst>
              <a:ext uri="{FF2B5EF4-FFF2-40B4-BE49-F238E27FC236}">
                <a16:creationId xmlns:a16="http://schemas.microsoft.com/office/drawing/2014/main" id="{E061020A-BFA1-4C8D-1E20-AF2233B7A34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ADF90D1-1251-4249-B4AC-93D019A86D5C}" type="slidenum">
              <a:rPr lang="es-VE" altLang="es-419">
                <a:solidFill>
                  <a:srgbClr val="898989"/>
                </a:solidFill>
                <a:latin typeface="Calibri" panose="020F0502020204030204" pitchFamily="34" charset="0"/>
              </a:rPr>
              <a:pPr eaLnBrk="1" hangingPunct="1"/>
              <a:t>8</a:t>
            </a:fld>
            <a:endParaRPr lang="es-VE" altLang="es-419">
              <a:solidFill>
                <a:srgbClr val="898989"/>
              </a:solidFill>
              <a:latin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726BACAE-17B1-82C9-4BF8-610A3899CC6B}"/>
              </a:ext>
            </a:extLst>
          </p:cNvPr>
          <p:cNvSpPr txBox="1">
            <a:spLocks/>
          </p:cNvSpPr>
          <p:nvPr/>
        </p:nvSpPr>
        <p:spPr>
          <a:xfrm>
            <a:off x="500063" y="1357313"/>
            <a:ext cx="8258175" cy="357187"/>
          </a:xfrm>
          <a:prstGeom prst="rect">
            <a:avLst/>
          </a:prstGeom>
        </p:spPr>
        <p:txBody>
          <a:bodyPr anchor="ctr"/>
          <a:lstStyle/>
          <a:p>
            <a:pPr fontAlgn="auto">
              <a:spcAft>
                <a:spcPts val="0"/>
              </a:spcAft>
              <a:defRPr/>
            </a:pPr>
            <a:r>
              <a:rPr lang="es-VE" sz="2800" b="1">
                <a:latin typeface="+mj-lt"/>
                <a:ea typeface="+mj-ea"/>
                <a:cs typeface="+mj-cs"/>
              </a:rPr>
              <a:t>Análisis Costo Beneficio</a:t>
            </a:r>
          </a:p>
        </p:txBody>
      </p:sp>
      <p:graphicFrame>
        <p:nvGraphicFramePr>
          <p:cNvPr id="5" name="4 Tabla">
            <a:extLst>
              <a:ext uri="{FF2B5EF4-FFF2-40B4-BE49-F238E27FC236}">
                <a16:creationId xmlns:a16="http://schemas.microsoft.com/office/drawing/2014/main" id="{EA81F351-475D-5304-05EA-EAA7F996151B}"/>
              </a:ext>
            </a:extLst>
          </p:cNvPr>
          <p:cNvGraphicFramePr>
            <a:graphicFrameLocks noGrp="1"/>
          </p:cNvGraphicFramePr>
          <p:nvPr>
            <p:extLst>
              <p:ext uri="{D42A27DB-BD31-4B8C-83A1-F6EECF244321}">
                <p14:modId xmlns:p14="http://schemas.microsoft.com/office/powerpoint/2010/main" val="3544693082"/>
              </p:ext>
            </p:extLst>
          </p:nvPr>
        </p:nvGraphicFramePr>
        <p:xfrm>
          <a:off x="485775" y="2420889"/>
          <a:ext cx="8172450" cy="3368308"/>
        </p:xfrm>
        <a:graphic>
          <a:graphicData uri="http://schemas.openxmlformats.org/drawingml/2006/table">
            <a:tbl>
              <a:tblPr firstRow="1" bandRow="1">
                <a:tableStyleId>{5C22544A-7EE6-4342-B048-85BDC9FD1C3A}</a:tableStyleId>
              </a:tblPr>
              <a:tblGrid>
                <a:gridCol w="5815021">
                  <a:extLst>
                    <a:ext uri="{9D8B030D-6E8A-4147-A177-3AD203B41FA5}">
                      <a16:colId xmlns:a16="http://schemas.microsoft.com/office/drawing/2014/main" val="20000"/>
                    </a:ext>
                  </a:extLst>
                </a:gridCol>
                <a:gridCol w="2357429">
                  <a:extLst>
                    <a:ext uri="{9D8B030D-6E8A-4147-A177-3AD203B41FA5}">
                      <a16:colId xmlns:a16="http://schemas.microsoft.com/office/drawing/2014/main" val="20001"/>
                    </a:ext>
                  </a:extLst>
                </a:gridCol>
              </a:tblGrid>
              <a:tr h="425147">
                <a:tc>
                  <a:txBody>
                    <a:bodyPr/>
                    <a:lstStyle/>
                    <a:p>
                      <a:pPr algn="ctr"/>
                      <a:r>
                        <a:rPr lang="es-VE" sz="1800"/>
                        <a:t>Descripción</a:t>
                      </a:r>
                    </a:p>
                  </a:txBody>
                  <a:tcPr marL="91439" marR="91439" marT="45711" marB="45711"/>
                </a:tc>
                <a:tc>
                  <a:txBody>
                    <a:bodyPr/>
                    <a:lstStyle/>
                    <a:p>
                      <a:pPr algn="ctr"/>
                      <a:r>
                        <a:rPr lang="es-VE" sz="1800"/>
                        <a:t>Costos (Primer año)</a:t>
                      </a:r>
                    </a:p>
                  </a:txBody>
                  <a:tcPr marL="91439" marR="91439" marT="45711" marB="45711"/>
                </a:tc>
                <a:extLst>
                  <a:ext uri="{0D108BD9-81ED-4DB2-BD59-A6C34878D82A}">
                    <a16:rowId xmlns:a16="http://schemas.microsoft.com/office/drawing/2014/main" val="10000"/>
                  </a:ext>
                </a:extLst>
              </a:tr>
              <a:tr h="904165">
                <a:tc>
                  <a:txBody>
                    <a:bodyPr/>
                    <a:lstStyle/>
                    <a:p>
                      <a:pPr algn="l"/>
                      <a:r>
                        <a:rPr lang="es-MX" b="0"/>
                        <a:t>Ahorro por Retención Estudiantil. Se evita que al menos 1 estudiante deserte por frustración académica</a:t>
                      </a:r>
                      <a:endParaRPr lang="es-VE" sz="1800" b="0">
                        <a:solidFill>
                          <a:srgbClr val="00B050"/>
                        </a:solidFill>
                      </a:endParaRPr>
                    </a:p>
                  </a:txBody>
                  <a:tcPr marL="91439" marR="91439" marT="45711" marB="45711"/>
                </a:tc>
                <a:tc>
                  <a:txBody>
                    <a:bodyPr/>
                    <a:lstStyle/>
                    <a:p>
                      <a:pPr algn="l"/>
                      <a:r>
                        <a:rPr lang="es-MX" sz="1800" b="0" i="0" kern="1200">
                          <a:solidFill>
                            <a:schemeClr val="dk1"/>
                          </a:solidFill>
                          <a:effectLst/>
                          <a:latin typeface="+mn-lt"/>
                          <a:ea typeface="+mn-ea"/>
                          <a:cs typeface="+mn-cs"/>
                        </a:rPr>
                        <a:t>$0 MXN</a:t>
                      </a:r>
                      <a:endParaRPr lang="es-VE" sz="1800" kern="1200">
                        <a:solidFill>
                          <a:srgbClr val="00B050"/>
                        </a:solidFill>
                        <a:latin typeface="+mn-lt"/>
                        <a:ea typeface="+mn-ea"/>
                        <a:cs typeface="+mn-cs"/>
                      </a:endParaRPr>
                    </a:p>
                  </a:txBody>
                  <a:tcPr marL="91439" marR="91439" marT="45711" marB="45711"/>
                </a:tc>
                <a:extLst>
                  <a:ext uri="{0D108BD9-81ED-4DB2-BD59-A6C34878D82A}">
                    <a16:rowId xmlns:a16="http://schemas.microsoft.com/office/drawing/2014/main" val="10001"/>
                  </a:ext>
                </a:extLst>
              </a:tr>
              <a:tr h="830927">
                <a:tc>
                  <a:txBody>
                    <a:bodyPr/>
                    <a:lstStyle/>
                    <a:p>
                      <a:pPr algn="l"/>
                      <a:r>
                        <a:rPr lang="es-MX" b="0">
                          <a:solidFill>
                            <a:schemeClr val="tx1"/>
                          </a:solidFill>
                        </a:rPr>
                        <a:t>Mejora de la Eficiencia Académica. Liberación de recursos (tiempo de profesor, cupo) que ocupaban alumnos que iban a reprobar. Es un beneficio más difícil de cuantificar, pero real.</a:t>
                      </a:r>
                      <a:endParaRPr lang="es-VE" sz="1800" b="0">
                        <a:solidFill>
                          <a:schemeClr val="tx1"/>
                        </a:solidFill>
                      </a:endParaRPr>
                    </a:p>
                  </a:txBody>
                  <a:tcPr marL="91439" marR="91439" marT="45711" marB="45711"/>
                </a:tc>
                <a:tc>
                  <a:txBody>
                    <a:bodyPr/>
                    <a:lstStyle/>
                    <a:p>
                      <a:pPr algn="l"/>
                      <a:r>
                        <a:rPr lang="es-MX" sz="1800" b="0" i="0" kern="1200">
                          <a:solidFill>
                            <a:schemeClr val="dk1"/>
                          </a:solidFill>
                          <a:effectLst/>
                          <a:latin typeface="+mn-lt"/>
                          <a:ea typeface="+mn-ea"/>
                          <a:cs typeface="+mn-cs"/>
                        </a:rPr>
                        <a:t>$0 MXN</a:t>
                      </a:r>
                      <a:endParaRPr lang="es-VE" sz="1800" kern="1200">
                        <a:solidFill>
                          <a:srgbClr val="00B050"/>
                        </a:solidFill>
                        <a:latin typeface="+mn-lt"/>
                        <a:ea typeface="+mn-ea"/>
                        <a:cs typeface="+mn-cs"/>
                      </a:endParaRPr>
                    </a:p>
                  </a:txBody>
                  <a:tcPr marL="91439" marR="91439" marT="45711" marB="45711"/>
                </a:tc>
                <a:extLst>
                  <a:ext uri="{0D108BD9-81ED-4DB2-BD59-A6C34878D82A}">
                    <a16:rowId xmlns:a16="http://schemas.microsoft.com/office/drawing/2014/main" val="10002"/>
                  </a:ext>
                </a:extLst>
              </a:tr>
              <a:tr h="425147">
                <a:tc>
                  <a:txBody>
                    <a:bodyPr/>
                    <a:lstStyle/>
                    <a:p>
                      <a:pPr algn="l"/>
                      <a:endParaRPr lang="es-VE" sz="1800">
                        <a:solidFill>
                          <a:srgbClr val="00B050"/>
                        </a:solidFill>
                      </a:endParaRPr>
                    </a:p>
                  </a:txBody>
                  <a:tcPr marL="91439" marR="91439" marT="45711" marB="45711"/>
                </a:tc>
                <a:tc>
                  <a:txBody>
                    <a:bodyPr/>
                    <a:lstStyle/>
                    <a:p>
                      <a:pPr algn="l"/>
                      <a:r>
                        <a:rPr lang="es-MX" sz="1800" b="0" i="0" kern="1200">
                          <a:solidFill>
                            <a:schemeClr val="dk1"/>
                          </a:solidFill>
                          <a:effectLst/>
                          <a:latin typeface="+mn-lt"/>
                          <a:ea typeface="+mn-ea"/>
                          <a:cs typeface="+mn-cs"/>
                        </a:rPr>
                        <a:t>$0 MXN</a:t>
                      </a:r>
                      <a:endParaRPr lang="es-VE" sz="1800" kern="1200">
                        <a:solidFill>
                          <a:srgbClr val="00B050"/>
                        </a:solidFill>
                        <a:latin typeface="+mn-lt"/>
                        <a:ea typeface="+mn-ea"/>
                        <a:cs typeface="+mn-cs"/>
                      </a:endParaRPr>
                    </a:p>
                  </a:txBody>
                  <a:tcPr marL="91439" marR="91439" marT="45711" marB="45711"/>
                </a:tc>
                <a:extLst>
                  <a:ext uri="{0D108BD9-81ED-4DB2-BD59-A6C34878D82A}">
                    <a16:rowId xmlns:a16="http://schemas.microsoft.com/office/drawing/2014/main" val="10003"/>
                  </a:ext>
                </a:extLst>
              </a:tr>
              <a:tr h="425147">
                <a:tc>
                  <a:txBody>
                    <a:bodyPr/>
                    <a:lstStyle/>
                    <a:p>
                      <a:pPr algn="l"/>
                      <a:endParaRPr lang="es-VE" sz="1800">
                        <a:solidFill>
                          <a:srgbClr val="00B050"/>
                        </a:solidFill>
                      </a:endParaRPr>
                    </a:p>
                  </a:txBody>
                  <a:tcPr marL="91439" marR="91439" marT="45711" marB="45711"/>
                </a:tc>
                <a:tc>
                  <a:txBody>
                    <a:bodyPr/>
                    <a:lstStyle/>
                    <a:p>
                      <a:pPr algn="l"/>
                      <a:r>
                        <a:rPr lang="es-MX" sz="1800" b="0" i="0" kern="1200" dirty="0">
                          <a:solidFill>
                            <a:schemeClr val="dk1"/>
                          </a:solidFill>
                          <a:effectLst/>
                          <a:latin typeface="+mn-lt"/>
                          <a:ea typeface="+mn-ea"/>
                          <a:cs typeface="+mn-cs"/>
                        </a:rPr>
                        <a:t>$0 MXN</a:t>
                      </a:r>
                      <a:endParaRPr lang="es-VE" sz="1800" kern="1200" dirty="0">
                        <a:solidFill>
                          <a:srgbClr val="00B050"/>
                        </a:solidFill>
                        <a:latin typeface="+mn-lt"/>
                        <a:ea typeface="+mn-ea"/>
                        <a:cs typeface="+mn-cs"/>
                      </a:endParaRPr>
                    </a:p>
                  </a:txBody>
                  <a:tcPr marL="91439" marR="91439" marT="45711" marB="45711"/>
                </a:tc>
                <a:extLst>
                  <a:ext uri="{0D108BD9-81ED-4DB2-BD59-A6C34878D82A}">
                    <a16:rowId xmlns:a16="http://schemas.microsoft.com/office/drawing/2014/main" val="1755491181"/>
                  </a:ext>
                </a:extLst>
              </a:tr>
            </a:tbl>
          </a:graphicData>
        </a:graphic>
      </p:graphicFrame>
      <p:sp>
        <p:nvSpPr>
          <p:cNvPr id="6" name="1 Título">
            <a:extLst>
              <a:ext uri="{FF2B5EF4-FFF2-40B4-BE49-F238E27FC236}">
                <a16:creationId xmlns:a16="http://schemas.microsoft.com/office/drawing/2014/main" id="{36E35548-263A-BD34-3D2C-7EE68A39D3C8}"/>
              </a:ext>
            </a:extLst>
          </p:cNvPr>
          <p:cNvSpPr txBox="1">
            <a:spLocks/>
          </p:cNvSpPr>
          <p:nvPr/>
        </p:nvSpPr>
        <p:spPr>
          <a:xfrm>
            <a:off x="514350" y="1857375"/>
            <a:ext cx="7772400" cy="357188"/>
          </a:xfrm>
          <a:prstGeom prst="rect">
            <a:avLst/>
          </a:prstGeom>
        </p:spPr>
        <p:txBody>
          <a:bodyPr anchor="ctr"/>
          <a:lstStyle/>
          <a:p>
            <a:pPr fontAlgn="auto">
              <a:spcAft>
                <a:spcPts val="0"/>
              </a:spcAft>
              <a:defRPr/>
            </a:pPr>
            <a:r>
              <a:rPr lang="es-VE" sz="2000" b="1">
                <a:latin typeface="+mj-lt"/>
                <a:ea typeface="+mj-ea"/>
                <a:cs typeface="+mj-cs"/>
              </a:rPr>
              <a:t>Beneficios</a:t>
            </a:r>
          </a:p>
        </p:txBody>
      </p:sp>
      <p:sp>
        <p:nvSpPr>
          <p:cNvPr id="8" name="7 Marcador de contenido">
            <a:extLst>
              <a:ext uri="{FF2B5EF4-FFF2-40B4-BE49-F238E27FC236}">
                <a16:creationId xmlns:a16="http://schemas.microsoft.com/office/drawing/2014/main" id="{76E357CF-FACB-8B25-7FAB-F447C6B368B6}"/>
              </a:ext>
            </a:extLst>
          </p:cNvPr>
          <p:cNvSpPr>
            <a:spLocks noGrp="1"/>
          </p:cNvSpPr>
          <p:nvPr>
            <p:ph sz="half" idx="1"/>
          </p:nvPr>
        </p:nvSpPr>
        <p:spPr>
          <a:xfrm>
            <a:off x="485775" y="6026355"/>
            <a:ext cx="8258175" cy="785812"/>
          </a:xfrm>
        </p:spPr>
        <p:txBody>
          <a:bodyPr/>
          <a:lstStyle/>
          <a:p>
            <a:pPr marL="0" indent="0" eaLnBrk="1" hangingPunct="1">
              <a:buFont typeface="Arial" charset="0"/>
              <a:buNone/>
              <a:defRPr/>
            </a:pPr>
            <a:r>
              <a:rPr lang="es-VE" sz="1800">
                <a:solidFill>
                  <a:srgbClr val="00B050"/>
                </a:solidFill>
              </a:rPr>
              <a:t>Como un anexo al caso de negocio se pueden presentar proyecciones de flujo de caja, valor presente neto, tiempo para el “break even” (payback) y otros indicadores).</a:t>
            </a:r>
          </a:p>
          <a:p>
            <a:pPr eaLnBrk="1" hangingPunct="1">
              <a:buFont typeface="Arial" charset="0"/>
              <a:buChar char="•"/>
              <a:defRPr/>
            </a:pPr>
            <a:endParaRPr lang="es-VE" sz="1800">
              <a:solidFill>
                <a:srgbClr val="00B050"/>
              </a:solidFill>
            </a:endParaRPr>
          </a:p>
          <a:p>
            <a:pPr eaLnBrk="1" hangingPunct="1">
              <a:buFont typeface="Arial" charset="0"/>
              <a:buChar char="•"/>
              <a:defRPr/>
            </a:pPr>
            <a:endParaRPr lang="es-VE" sz="1800">
              <a:solidFill>
                <a:srgbClr val="00B050"/>
              </a:solidFill>
            </a:endParaRPr>
          </a:p>
        </p:txBody>
      </p:sp>
      <p:sp>
        <p:nvSpPr>
          <p:cNvPr id="9" name="8 Marcador de número de diapositiva">
            <a:extLst>
              <a:ext uri="{FF2B5EF4-FFF2-40B4-BE49-F238E27FC236}">
                <a16:creationId xmlns:a16="http://schemas.microsoft.com/office/drawing/2014/main" id="{585014BF-3514-27D8-3E2F-ED2DFC5CA99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931B2E5E-0136-4B58-8854-3693A1624727}" type="slidenum">
              <a:rPr lang="es-VE" altLang="es-419">
                <a:solidFill>
                  <a:srgbClr val="898989"/>
                </a:solidFill>
                <a:latin typeface="Calibri" panose="020F0502020204030204" pitchFamily="34" charset="0"/>
              </a:rPr>
              <a:pPr eaLnBrk="1" hangingPunct="1"/>
              <a:t>9</a:t>
            </a:fld>
            <a:endParaRPr lang="es-VE" altLang="es-419">
              <a:solidFill>
                <a:srgbClr val="898989"/>
              </a:solidFill>
              <a:latin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8FD5D33C-F080-09E1-0AF1-86125CED5155}"/>
              </a:ext>
            </a:extLst>
          </p:cNvPr>
          <p:cNvSpPr txBox="1">
            <a:spLocks/>
          </p:cNvSpPr>
          <p:nvPr/>
        </p:nvSpPr>
        <p:spPr>
          <a:xfrm>
            <a:off x="500063" y="1357313"/>
            <a:ext cx="8258175" cy="357187"/>
          </a:xfrm>
          <a:prstGeom prst="rect">
            <a:avLst/>
          </a:prstGeom>
        </p:spPr>
        <p:txBody>
          <a:bodyPr anchor="ctr"/>
          <a:lstStyle/>
          <a:p>
            <a:pPr fontAlgn="auto">
              <a:spcAft>
                <a:spcPts val="0"/>
              </a:spcAft>
              <a:defRPr/>
            </a:pPr>
            <a:r>
              <a:rPr lang="es-VE" sz="2800" b="1">
                <a:latin typeface="+mj-lt"/>
                <a:ea typeface="+mj-ea"/>
                <a:cs typeface="+mj-cs"/>
              </a:rPr>
              <a:t>Análisis de Alternativas</a:t>
            </a:r>
          </a:p>
        </p:txBody>
      </p:sp>
      <p:graphicFrame>
        <p:nvGraphicFramePr>
          <p:cNvPr id="4" name="3 Tabla">
            <a:extLst>
              <a:ext uri="{FF2B5EF4-FFF2-40B4-BE49-F238E27FC236}">
                <a16:creationId xmlns:a16="http://schemas.microsoft.com/office/drawing/2014/main" id="{F249577D-F264-C64F-5A50-ED3DF4B6EFF0}"/>
              </a:ext>
            </a:extLst>
          </p:cNvPr>
          <p:cNvGraphicFramePr>
            <a:graphicFrameLocks noGrp="1"/>
          </p:cNvGraphicFramePr>
          <p:nvPr>
            <p:extLst>
              <p:ext uri="{D42A27DB-BD31-4B8C-83A1-F6EECF244321}">
                <p14:modId xmlns:p14="http://schemas.microsoft.com/office/powerpoint/2010/main" val="2789092186"/>
              </p:ext>
            </p:extLst>
          </p:nvPr>
        </p:nvGraphicFramePr>
        <p:xfrm>
          <a:off x="488061" y="1846263"/>
          <a:ext cx="8172450" cy="3017496"/>
        </p:xfrm>
        <a:graphic>
          <a:graphicData uri="http://schemas.openxmlformats.org/drawingml/2006/table">
            <a:tbl>
              <a:tblPr firstRow="1" bandRow="1">
                <a:tableStyleId>{5C22544A-7EE6-4342-B048-85BDC9FD1C3A}</a:tableStyleId>
              </a:tblPr>
              <a:tblGrid>
                <a:gridCol w="4243401">
                  <a:extLst>
                    <a:ext uri="{9D8B030D-6E8A-4147-A177-3AD203B41FA5}">
                      <a16:colId xmlns:a16="http://schemas.microsoft.com/office/drawing/2014/main" val="20000"/>
                    </a:ext>
                  </a:extLst>
                </a:gridCol>
                <a:gridCol w="3929049">
                  <a:extLst>
                    <a:ext uri="{9D8B030D-6E8A-4147-A177-3AD203B41FA5}">
                      <a16:colId xmlns:a16="http://schemas.microsoft.com/office/drawing/2014/main" val="20001"/>
                    </a:ext>
                  </a:extLst>
                </a:gridCol>
              </a:tblGrid>
              <a:tr h="365726">
                <a:tc>
                  <a:txBody>
                    <a:bodyPr/>
                    <a:lstStyle/>
                    <a:p>
                      <a:pPr algn="ctr"/>
                      <a:r>
                        <a:rPr lang="es-VE" sz="1800"/>
                        <a:t>Alternativas</a:t>
                      </a:r>
                    </a:p>
                  </a:txBody>
                  <a:tcPr marL="91439" marR="91439" marT="45716" marB="45716"/>
                </a:tc>
                <a:tc>
                  <a:txBody>
                    <a:bodyPr/>
                    <a:lstStyle/>
                    <a:p>
                      <a:pPr algn="ctr"/>
                      <a:r>
                        <a:rPr lang="es-VE" sz="1800"/>
                        <a:t>Razones para no seleccionarla</a:t>
                      </a:r>
                    </a:p>
                  </a:txBody>
                  <a:tcPr marL="91439" marR="91439" marT="45716" marB="45716"/>
                </a:tc>
                <a:extLst>
                  <a:ext uri="{0D108BD9-81ED-4DB2-BD59-A6C34878D82A}">
                    <a16:rowId xmlns:a16="http://schemas.microsoft.com/office/drawing/2014/main" val="10000"/>
                  </a:ext>
                </a:extLst>
              </a:tr>
              <a:tr h="640020">
                <a:tc>
                  <a:txBody>
                    <a:bodyPr/>
                    <a:lstStyle/>
                    <a:p>
                      <a:pPr lvl="0" algn="l">
                        <a:buNone/>
                      </a:pPr>
                      <a:r>
                        <a:rPr lang="es-VE" sz="1800" b="0" i="0" u="none" strike="noStrike" noProof="0">
                          <a:solidFill>
                            <a:srgbClr val="00B050"/>
                          </a:solidFill>
                          <a:latin typeface="Calibri"/>
                        </a:rPr>
                        <a:t>Enviar un único comunicado masivo por correo electrónico.</a:t>
                      </a:r>
                      <a:endParaRPr lang="es-VE" sz="1800">
                        <a:solidFill>
                          <a:srgbClr val="00B050"/>
                        </a:solidFill>
                      </a:endParaRPr>
                    </a:p>
                  </a:txBody>
                  <a:tcPr marL="91439" marR="91439" marT="45716" marB="45716"/>
                </a:tc>
                <a:tc>
                  <a:txBody>
                    <a:bodyPr/>
                    <a:lstStyle/>
                    <a:p>
                      <a:pPr lvl="0" algn="l">
                        <a:buNone/>
                      </a:pPr>
                      <a:r>
                        <a:rPr lang="es-VE" sz="1800" b="0" i="0" u="none" strike="noStrike" kern="1200" baseline="0" noProof="0">
                          <a:solidFill>
                            <a:srgbClr val="00B050"/>
                          </a:solidFill>
                          <a:latin typeface="Calibri"/>
                        </a:rPr>
                        <a:t>Existe un alto riesgo de que los alumnos ignoren el comunicado debido a la sobrecarga de información que reciben al inicio del semestre. No cumpliría el objetivo de que los alumnos no estén informados.</a:t>
                      </a:r>
                    </a:p>
                  </a:txBody>
                  <a:tcPr marL="91439" marR="91439" marT="45716" marB="45716"/>
                </a:tc>
                <a:extLst>
                  <a:ext uri="{0D108BD9-81ED-4DB2-BD59-A6C34878D82A}">
                    <a16:rowId xmlns:a16="http://schemas.microsoft.com/office/drawing/2014/main" val="10001"/>
                  </a:ext>
                </a:extLst>
              </a:tr>
              <a:tr h="640020">
                <a:tc>
                  <a:txBody>
                    <a:bodyPr/>
                    <a:lstStyle/>
                    <a:p>
                      <a:pPr lvl="0" algn="l">
                        <a:buNone/>
                      </a:pPr>
                      <a:r>
                        <a:rPr lang="es-VE" sz="1800" b="0" i="0" u="none" strike="noStrike" noProof="0">
                          <a:solidFill>
                            <a:srgbClr val="00B050"/>
                          </a:solidFill>
                          <a:latin typeface="Calibri"/>
                        </a:rPr>
                        <a:t>Crear un curso o taller obligatorio sobre trámites escolares.</a:t>
                      </a:r>
                      <a:endParaRPr lang="es-VE" sz="1800">
                        <a:solidFill>
                          <a:srgbClr val="00B050"/>
                        </a:solidFill>
                      </a:endParaRPr>
                    </a:p>
                  </a:txBody>
                  <a:tcPr marL="91439" marR="91439" marT="45716" marB="45716"/>
                </a:tc>
                <a:tc>
                  <a:txBody>
                    <a:bodyPr/>
                    <a:lstStyle/>
                    <a:p>
                      <a:pPr marL="0" marR="0" lvl="0" indent="0" algn="l">
                        <a:lnSpc>
                          <a:spcPct val="100000"/>
                        </a:lnSpc>
                        <a:spcBef>
                          <a:spcPts val="0"/>
                        </a:spcBef>
                        <a:spcAft>
                          <a:spcPts val="0"/>
                        </a:spcAft>
                        <a:buNone/>
                      </a:pPr>
                      <a:r>
                        <a:rPr lang="es-VE" sz="1800" b="0" i="0" u="none" strike="noStrike" kern="1200" baseline="0" noProof="0">
                          <a:solidFill>
                            <a:srgbClr val="00B050"/>
                          </a:solidFill>
                        </a:rPr>
                        <a:t>Se requiere de recursos adicionales, tiempo de planificación y podría generar desinterés en los estudiantes.</a:t>
                      </a:r>
                    </a:p>
                  </a:txBody>
                  <a:tcPr marL="91439" marR="91439" marT="45716" marB="45716"/>
                </a:tc>
                <a:extLst>
                  <a:ext uri="{0D108BD9-81ED-4DB2-BD59-A6C34878D82A}">
                    <a16:rowId xmlns:a16="http://schemas.microsoft.com/office/drawing/2014/main" val="10002"/>
                  </a:ext>
                </a:extLst>
              </a:tr>
            </a:tbl>
          </a:graphicData>
        </a:graphic>
      </p:graphicFrame>
      <p:sp>
        <p:nvSpPr>
          <p:cNvPr id="6" name="5 Marcador de número de diapositiva">
            <a:extLst>
              <a:ext uri="{FF2B5EF4-FFF2-40B4-BE49-F238E27FC236}">
                <a16:creationId xmlns:a16="http://schemas.microsoft.com/office/drawing/2014/main" id="{AB4E65BB-5AE7-87E0-329F-B889B79D2B8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31FE56A-D6C4-46FE-A65F-0BBCFB919830}" type="slidenum">
              <a:rPr lang="es-VE" altLang="es-419">
                <a:solidFill>
                  <a:srgbClr val="898989"/>
                </a:solidFill>
                <a:latin typeface="Calibri" panose="020F0502020204030204" pitchFamily="34" charset="0"/>
              </a:rPr>
              <a:pPr eaLnBrk="1" hangingPunct="1"/>
              <a:t>10</a:t>
            </a:fld>
            <a:endParaRPr lang="es-VE" altLang="es-419">
              <a:solidFill>
                <a:srgbClr val="898989"/>
              </a:solidFill>
              <a:latin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1 Título">
            <a:extLst>
              <a:ext uri="{FF2B5EF4-FFF2-40B4-BE49-F238E27FC236}">
                <a16:creationId xmlns:a16="http://schemas.microsoft.com/office/drawing/2014/main" id="{2700932B-4579-2EF3-F358-63A00EE9E620}"/>
              </a:ext>
            </a:extLst>
          </p:cNvPr>
          <p:cNvSpPr txBox="1">
            <a:spLocks/>
          </p:cNvSpPr>
          <p:nvPr/>
        </p:nvSpPr>
        <p:spPr>
          <a:xfrm>
            <a:off x="357188" y="1357313"/>
            <a:ext cx="8258175" cy="357187"/>
          </a:xfrm>
          <a:prstGeom prst="rect">
            <a:avLst/>
          </a:prstGeom>
        </p:spPr>
        <p:txBody>
          <a:bodyPr anchor="ctr"/>
          <a:lstStyle/>
          <a:p>
            <a:pPr fontAlgn="auto">
              <a:spcAft>
                <a:spcPts val="0"/>
              </a:spcAft>
              <a:defRPr/>
            </a:pPr>
            <a:r>
              <a:rPr lang="es-VE" sz="2800" b="1">
                <a:latin typeface="+mj-lt"/>
                <a:ea typeface="+mj-ea"/>
                <a:cs typeface="+mj-cs"/>
              </a:rPr>
              <a:t>Aprobaciones</a:t>
            </a:r>
          </a:p>
        </p:txBody>
      </p:sp>
      <p:graphicFrame>
        <p:nvGraphicFramePr>
          <p:cNvPr id="5" name="4 Tabla">
            <a:extLst>
              <a:ext uri="{FF2B5EF4-FFF2-40B4-BE49-F238E27FC236}">
                <a16:creationId xmlns:a16="http://schemas.microsoft.com/office/drawing/2014/main" id="{F83AB9FD-E556-E7BD-FE84-2E7F60AE29C4}"/>
              </a:ext>
            </a:extLst>
          </p:cNvPr>
          <p:cNvGraphicFramePr>
            <a:graphicFrameLocks noGrp="1"/>
          </p:cNvGraphicFramePr>
          <p:nvPr>
            <p:extLst>
              <p:ext uri="{D42A27DB-BD31-4B8C-83A1-F6EECF244321}">
                <p14:modId xmlns:p14="http://schemas.microsoft.com/office/powerpoint/2010/main" val="651568578"/>
              </p:ext>
            </p:extLst>
          </p:nvPr>
        </p:nvGraphicFramePr>
        <p:xfrm>
          <a:off x="109728" y="2000250"/>
          <a:ext cx="8900160" cy="4322812"/>
        </p:xfrm>
        <a:graphic>
          <a:graphicData uri="http://schemas.openxmlformats.org/drawingml/2006/table">
            <a:tbl>
              <a:tblPr firstRow="1" bandRow="1">
                <a:tableStyleId>{5C22544A-7EE6-4342-B048-85BDC9FD1C3A}</a:tableStyleId>
              </a:tblPr>
              <a:tblGrid>
                <a:gridCol w="2225040">
                  <a:extLst>
                    <a:ext uri="{9D8B030D-6E8A-4147-A177-3AD203B41FA5}">
                      <a16:colId xmlns:a16="http://schemas.microsoft.com/office/drawing/2014/main" val="20000"/>
                    </a:ext>
                  </a:extLst>
                </a:gridCol>
                <a:gridCol w="2225040">
                  <a:extLst>
                    <a:ext uri="{9D8B030D-6E8A-4147-A177-3AD203B41FA5}">
                      <a16:colId xmlns:a16="http://schemas.microsoft.com/office/drawing/2014/main" val="20001"/>
                    </a:ext>
                  </a:extLst>
                </a:gridCol>
                <a:gridCol w="2225040">
                  <a:extLst>
                    <a:ext uri="{9D8B030D-6E8A-4147-A177-3AD203B41FA5}">
                      <a16:colId xmlns:a16="http://schemas.microsoft.com/office/drawing/2014/main" val="20002"/>
                    </a:ext>
                  </a:extLst>
                </a:gridCol>
                <a:gridCol w="2225040">
                  <a:extLst>
                    <a:ext uri="{9D8B030D-6E8A-4147-A177-3AD203B41FA5}">
                      <a16:colId xmlns:a16="http://schemas.microsoft.com/office/drawing/2014/main" val="20003"/>
                    </a:ext>
                  </a:extLst>
                </a:gridCol>
              </a:tblGrid>
              <a:tr h="677077">
                <a:tc>
                  <a:txBody>
                    <a:bodyPr/>
                    <a:lstStyle/>
                    <a:p>
                      <a:pPr algn="ctr"/>
                      <a:r>
                        <a:rPr lang="es-VE" sz="1800"/>
                        <a:t>Aprobador</a:t>
                      </a:r>
                    </a:p>
                  </a:txBody>
                  <a:tcPr marL="91439" marR="91439" marT="45725" marB="45725"/>
                </a:tc>
                <a:tc>
                  <a:txBody>
                    <a:bodyPr/>
                    <a:lstStyle/>
                    <a:p>
                      <a:pPr algn="ctr"/>
                      <a:r>
                        <a:rPr lang="es-VE" sz="1800"/>
                        <a:t>Cargo en la organización</a:t>
                      </a:r>
                    </a:p>
                  </a:txBody>
                  <a:tcPr marL="91439" marR="91439" marT="45725" marB="45725"/>
                </a:tc>
                <a:tc>
                  <a:txBody>
                    <a:bodyPr/>
                    <a:lstStyle/>
                    <a:p>
                      <a:pPr algn="ctr"/>
                      <a:r>
                        <a:rPr lang="es-VE" sz="1800"/>
                        <a:t>Firma</a:t>
                      </a:r>
                    </a:p>
                  </a:txBody>
                  <a:tcPr marL="91439" marR="91439" marT="45725" marB="45725"/>
                </a:tc>
                <a:tc>
                  <a:txBody>
                    <a:bodyPr/>
                    <a:lstStyle/>
                    <a:p>
                      <a:pPr algn="ctr"/>
                      <a:r>
                        <a:rPr lang="es-VE" sz="1800"/>
                        <a:t>Fecha</a:t>
                      </a:r>
                    </a:p>
                  </a:txBody>
                  <a:tcPr marL="91439" marR="91439" marT="45725" marB="45725"/>
                </a:tc>
                <a:extLst>
                  <a:ext uri="{0D108BD9-81ED-4DB2-BD59-A6C34878D82A}">
                    <a16:rowId xmlns:a16="http://schemas.microsoft.com/office/drawing/2014/main" val="10000"/>
                  </a:ext>
                </a:extLst>
              </a:tr>
              <a:tr h="677012">
                <a:tc>
                  <a:txBody>
                    <a:bodyPr/>
                    <a:lstStyle/>
                    <a:p>
                      <a:r>
                        <a:rPr lang="es-VE" sz="1800"/>
                        <a:t>Dr. Jorge Bautista Lopez</a:t>
                      </a:r>
                    </a:p>
                  </a:txBody>
                  <a:tcPr marL="91439" marR="91439" marT="45725" marB="45725"/>
                </a:tc>
                <a:tc>
                  <a:txBody>
                    <a:bodyPr/>
                    <a:lstStyle/>
                    <a:p>
                      <a:r>
                        <a:rPr lang="es-MX" sz="1800" b="0" i="0" kern="1200">
                          <a:solidFill>
                            <a:schemeClr val="dk1"/>
                          </a:solidFill>
                          <a:effectLst/>
                          <a:latin typeface="+mn-lt"/>
                          <a:ea typeface="+mn-ea"/>
                          <a:cs typeface="+mn-cs"/>
                        </a:rPr>
                        <a:t>Coordinador de Ingeniería en Computación.</a:t>
                      </a:r>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1"/>
                  </a:ext>
                </a:extLst>
              </a:tr>
              <a:tr h="392275">
                <a:tc>
                  <a:txBody>
                    <a:bodyPr/>
                    <a:lstStyle/>
                    <a:p>
                      <a:r>
                        <a:rPr lang="es-VE" sz="1800"/>
                        <a:t>Lic. Mónica Candelaria Niembro Galindo</a:t>
                      </a:r>
                    </a:p>
                  </a:txBody>
                  <a:tcPr marL="91439" marR="91439" marT="45725" marB="45725"/>
                </a:tc>
                <a:tc>
                  <a:txBody>
                    <a:bodyPr/>
                    <a:lstStyle/>
                    <a:p>
                      <a:r>
                        <a:rPr lang="es-VE" sz="1800"/>
                        <a:t>Encargada de extención</a:t>
                      </a:r>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2"/>
                  </a:ext>
                </a:extLst>
              </a:tr>
              <a:tr h="392275">
                <a:tc>
                  <a:txBody>
                    <a:bodyPr/>
                    <a:lstStyle/>
                    <a:p>
                      <a:r>
                        <a:rPr lang="es-VE" sz="1800"/>
                        <a:t>Guillermo Palemón Hernández Bastida</a:t>
                      </a:r>
                    </a:p>
                  </a:txBody>
                  <a:tcPr marL="91439" marR="91439" marT="45725" marB="45725"/>
                </a:tc>
                <a:tc>
                  <a:txBody>
                    <a:bodyPr/>
                    <a:lstStyle/>
                    <a:p>
                      <a:r>
                        <a:rPr lang="es-VE" sz="1800"/>
                        <a:t>Director del C.U.Zumpango</a:t>
                      </a:r>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3"/>
                  </a:ext>
                </a:extLst>
              </a:tr>
              <a:tr h="392275">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4"/>
                  </a:ext>
                </a:extLst>
              </a:tr>
              <a:tr h="392275">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5"/>
                  </a:ext>
                </a:extLst>
              </a:tr>
              <a:tr h="392275">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tc>
                  <a:txBody>
                    <a:bodyPr/>
                    <a:lstStyle/>
                    <a:p>
                      <a:endParaRPr lang="es-VE" sz="1800"/>
                    </a:p>
                  </a:txBody>
                  <a:tcPr marL="91439" marR="91439" marT="45725" marB="45725"/>
                </a:tc>
                <a:extLst>
                  <a:ext uri="{0D108BD9-81ED-4DB2-BD59-A6C34878D82A}">
                    <a16:rowId xmlns:a16="http://schemas.microsoft.com/office/drawing/2014/main" val="10006"/>
                  </a:ext>
                </a:extLst>
              </a:tr>
            </a:tbl>
          </a:graphicData>
        </a:graphic>
      </p:graphicFrame>
      <p:sp>
        <p:nvSpPr>
          <p:cNvPr id="6" name="5 Marcador de número de diapositiva">
            <a:extLst>
              <a:ext uri="{FF2B5EF4-FFF2-40B4-BE49-F238E27FC236}">
                <a16:creationId xmlns:a16="http://schemas.microsoft.com/office/drawing/2014/main" id="{809F55AE-30B1-CC0C-363C-3A3B977C43B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9FC2C1-9CCE-464E-9AF9-B0EE724339CC}" type="slidenum">
              <a:rPr lang="es-VE" altLang="es-419">
                <a:solidFill>
                  <a:srgbClr val="898989"/>
                </a:solidFill>
                <a:latin typeface="Calibri" panose="020F0502020204030204" pitchFamily="34" charset="0"/>
              </a:rPr>
              <a:pPr eaLnBrk="1" hangingPunct="1"/>
              <a:t>11</a:t>
            </a:fld>
            <a:endParaRPr lang="es-VE" altLang="es-419">
              <a:solidFill>
                <a:srgbClr val="898989"/>
              </a:solidFill>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6C637EA589F24D935192A732302EFF" ma:contentTypeVersion="18" ma:contentTypeDescription="Create a new document." ma:contentTypeScope="" ma:versionID="560acd60a9f30dcb8b9a449622952382">
  <xsd:schema xmlns:xsd="http://www.w3.org/2001/XMLSchema" xmlns:xs="http://www.w3.org/2001/XMLSchema" xmlns:p="http://schemas.microsoft.com/office/2006/metadata/properties" xmlns:ns3="2622ba91-40fd-4640-b50c-92dc66e1fc44" xmlns:ns4="749d5ae2-5db7-4e69-a7a3-6fccc2fcb882" targetNamespace="http://schemas.microsoft.com/office/2006/metadata/properties" ma:root="true" ma:fieldsID="f85bb7fe8d607d42cda762f3ed6b621b" ns3:_="" ns4:_="">
    <xsd:import namespace="2622ba91-40fd-4640-b50c-92dc66e1fc44"/>
    <xsd:import namespace="749d5ae2-5db7-4e69-a7a3-6fccc2fcb88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OCR" minOccurs="0"/>
                <xsd:element ref="ns3:MediaServiceGenerationTime" minOccurs="0"/>
                <xsd:element ref="ns3:MediaServiceEventHashCode" minOccurs="0"/>
                <xsd:element ref="ns3:_activity" minOccurs="0"/>
                <xsd:element ref="ns3:MediaServiceSearchProperties" minOccurs="0"/>
                <xsd:element ref="ns3:MediaServiceObjectDetectorVersions" minOccurs="0"/>
                <xsd:element ref="ns3:MediaServiceLocation"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2ba91-40fd-4640-b50c-92dc66e1fc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49d5ae2-5db7-4e69-a7a3-6fccc2fcb88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622ba91-40fd-4640-b50c-92dc66e1fc44" xsi:nil="true"/>
  </documentManagement>
</p:properties>
</file>

<file path=customXml/itemProps1.xml><?xml version="1.0" encoding="utf-8"?>
<ds:datastoreItem xmlns:ds="http://schemas.openxmlformats.org/officeDocument/2006/customXml" ds:itemID="{825CEB05-6BC9-4AA2-9189-8BDE00731F57}">
  <ds:schemaRefs>
    <ds:schemaRef ds:uri="2622ba91-40fd-4640-b50c-92dc66e1fc44"/>
    <ds:schemaRef ds:uri="749d5ae2-5db7-4e69-a7a3-6fccc2fcb88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0D214E-D3DB-4129-B120-D5B6DB250A1C}">
  <ds:schemaRefs>
    <ds:schemaRef ds:uri="http://schemas.microsoft.com/sharepoint/v3/contenttype/forms"/>
  </ds:schemaRefs>
</ds:datastoreItem>
</file>

<file path=customXml/itemProps3.xml><?xml version="1.0" encoding="utf-8"?>
<ds:datastoreItem xmlns:ds="http://schemas.openxmlformats.org/officeDocument/2006/customXml" ds:itemID="{420EE67C-5C3D-462F-AA4E-0D3C8C0BF3AF}">
  <ds:schemaRefs>
    <ds:schemaRef ds:uri="2622ba91-40fd-4640-b50c-92dc66e1fc44"/>
    <ds:schemaRef ds:uri="http://schemas.microsoft.com/office/infopath/2007/PartnerControls"/>
    <ds:schemaRef ds:uri="http://www.w3.org/XML/1998/namespace"/>
    <ds:schemaRef ds:uri="http://purl.org/dc/terms/"/>
    <ds:schemaRef ds:uri="http://purl.org/dc/elements/1.1/"/>
    <ds:schemaRef ds:uri="http://schemas.microsoft.com/office/2006/documentManagement/types"/>
    <ds:schemaRef ds:uri="http://purl.org/dc/dcmitype/"/>
    <ds:schemaRef ds:uri="http://schemas.microsoft.com/office/2006/metadata/properties"/>
    <ds:schemaRef ds:uri="http://schemas.openxmlformats.org/package/2006/metadata/core-properties"/>
    <ds:schemaRef ds:uri="749d5ae2-5db7-4e69-a7a3-6fccc2fcb882"/>
  </ds:schemaRefs>
</ds:datastoreItem>
</file>

<file path=docProps/app.xml><?xml version="1.0" encoding="utf-8"?>
<Properties xmlns="http://schemas.openxmlformats.org/officeDocument/2006/extended-properties" xmlns:vt="http://schemas.openxmlformats.org/officeDocument/2006/docPropsVTypes">
  <TotalTime>1</TotalTime>
  <Words>1320</Words>
  <Application>Microsoft Office PowerPoint</Application>
  <PresentationFormat>Presentación en pantalla (4:3)</PresentationFormat>
  <Paragraphs>110</Paragraphs>
  <Slides>11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Arial</vt:lpstr>
      <vt:lpstr>Calibri</vt:lpstr>
      <vt:lpstr>Didact Gothic</vt:lpstr>
      <vt:lpstr>quote-cjk-patch</vt:lpstr>
      <vt:lpstr>Tema de Office</vt:lpstr>
      <vt:lpstr>Caso de Negocio  [Alto índice de reprobación en la licenciatura de Ingeniería en Computación por el desconocimiento de baja de materias en alumnos de primer semestre]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admin</dc:creator>
  <cp:lastModifiedBy>ZATDIEL YAEL ROMO RIVERO</cp:lastModifiedBy>
  <cp:revision>2</cp:revision>
  <dcterms:created xsi:type="dcterms:W3CDTF">2013-07-13T16:52:20Z</dcterms:created>
  <dcterms:modified xsi:type="dcterms:W3CDTF">2025-10-03T16:52:13Z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0x010100346C637EA589F24D935192A732302EFF</vt:lpwstr>
  </property>
</Properties>
</file>